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Optimasi System Monitoring Project Menggunakan AI</a:t>
            </a:r>
          </a:p>
          <a:p>
            <a:r>
              <a:t>untuk Memudahkan Evaluasi dan Meningkatkan Kinerja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Inovasi: AIMON (AI Monitoring for Optimization and Navigation)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01 - 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Dalam pelaksanaan project, proses monitoring dan evaluasi sering kali membutuhkan waktu, ketelitian, serta analisis data yang cukup besar.</a:t>
            </a:r>
          </a:p>
          <a:p>
            <a:r>
              <a:t>Proses manual berpotensi menimbulkan keterlambatan identifikasi deviasi dan menyulitkan rekapitulasi data.</a:t>
            </a:r>
          </a:p>
          <a:p>
            <a:r>
              <a:t>Kurang optimalnya pengambilan keputusan pimpinan karena kondisi aktual project tidak dapat dipantau secara langsung.</a:t>
            </a:r>
          </a:p>
          <a:p>
            <a:r>
              <a:t>Tujuan: Mengoptimalkan pemantauan berbasis AI, mengurangi monitoring manual, dan mempercepat identifikasi hambatan operasional.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02 - Masalah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Apa yang terjadi: Proses pelaporan progres proyek (di Area OMTI, Non-OMTI, Security Printing, dll) berjalan secara konvensional dan terpecah (silo).</a:t>
            </a:r>
          </a:p>
          <a:p>
            <a:r>
              <a:t>Baseline permasalahan: Dokumen (evidence) dan laporan progres tersebar di email/aplikasi chat personal, sehingga sulit dilacak dan diaudit.</a:t>
            </a:r>
          </a:p>
          <a:p>
            <a:r>
              <a:t>Dampak: Pemborosan man-hours untuk mengumpulkan laporan, serta rantai persetujuan (approval) yang sangat lambat dari level pelaksana hingga level eksekutif.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03 - Analisis Penyebab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Akar Masalah (Root Cause): Tidak adanya sebuah ekosistem digital terpadu yang memfasilitasi 3 pilar utama secara bersamaan: Manajemen Proyek, Komunikasi, dan Manajemen Bukti Dokumen.</a:t>
            </a:r>
          </a:p>
          <a:p>
            <a:r>
              <a:t>Dampak turunan 1: Laporan lambat direkap karena atasan harus memvalidasi data dan mencari dokumen di tempat yang berbeda-beda.</a:t>
            </a:r>
          </a:p>
          <a:p>
            <a:r>
              <a:t>Dampak turunan 2: Jika terjadi revisi, komunikasi tercecer karena tidak ada fitur diskusi/chat yang menempel langsung pada konteks proyek tersebut.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04 - Solusi: Iterasi 1 (Fondasi Dashboard &amp; Approval)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/>
              <a:t>Langkah </a:t>
            </a:r>
            <a:r>
              <a:rPr sz="2000" dirty="0" err="1"/>
              <a:t>awal</a:t>
            </a:r>
            <a:r>
              <a:rPr sz="2000" dirty="0"/>
              <a:t> </a:t>
            </a:r>
            <a:r>
              <a:rPr sz="2000" dirty="0" err="1"/>
              <a:t>pembuatan</a:t>
            </a:r>
            <a:r>
              <a:rPr sz="2000" dirty="0"/>
              <a:t> AIMON </a:t>
            </a:r>
            <a:r>
              <a:rPr sz="2000" dirty="0" err="1"/>
              <a:t>difokuskan</a:t>
            </a:r>
            <a:r>
              <a:rPr sz="2000" dirty="0"/>
              <a:t> pada </a:t>
            </a:r>
            <a:r>
              <a:rPr sz="2000" dirty="0" err="1"/>
              <a:t>perancangan</a:t>
            </a:r>
            <a:r>
              <a:rPr sz="2000" dirty="0"/>
              <a:t> </a:t>
            </a:r>
            <a:r>
              <a:rPr sz="2000" dirty="0" err="1"/>
              <a:t>arsitektur</a:t>
            </a:r>
            <a:r>
              <a:rPr sz="2000" dirty="0"/>
              <a:t> </a:t>
            </a:r>
            <a:r>
              <a:rPr sz="2000" dirty="0" err="1"/>
              <a:t>antarmuka</a:t>
            </a:r>
            <a:r>
              <a:rPr sz="2000" dirty="0"/>
              <a:t> (UI/UX) dan </a:t>
            </a:r>
            <a:r>
              <a:rPr sz="2000" dirty="0" err="1"/>
              <a:t>sistem</a:t>
            </a:r>
            <a:r>
              <a:rPr sz="2000" dirty="0"/>
              <a:t> </a:t>
            </a:r>
            <a:r>
              <a:rPr sz="2000" dirty="0" err="1"/>
              <a:t>hierarki</a:t>
            </a:r>
            <a:r>
              <a:rPr sz="2000" dirty="0"/>
              <a:t> </a:t>
            </a:r>
            <a:r>
              <a:rPr sz="2000" dirty="0" err="1"/>
              <a:t>pengguna</a:t>
            </a:r>
            <a:r>
              <a:rPr sz="2000" dirty="0"/>
              <a:t>.</a:t>
            </a:r>
          </a:p>
          <a:p>
            <a:r>
              <a:rPr sz="2000" dirty="0" err="1"/>
              <a:t>Sistem</a:t>
            </a:r>
            <a:r>
              <a:rPr sz="2000" dirty="0"/>
              <a:t> Role-based: Hak </a:t>
            </a:r>
            <a:r>
              <a:rPr sz="2000" dirty="0" err="1"/>
              <a:t>akses</a:t>
            </a:r>
            <a:r>
              <a:rPr sz="2000" dirty="0"/>
              <a:t> </a:t>
            </a:r>
            <a:r>
              <a:rPr sz="2000" dirty="0" err="1"/>
              <a:t>dibedakan</a:t>
            </a:r>
            <a:r>
              <a:rPr sz="2000" dirty="0"/>
              <a:t> </a:t>
            </a:r>
            <a:r>
              <a:rPr sz="2000" dirty="0" err="1"/>
              <a:t>untuk</a:t>
            </a:r>
            <a:r>
              <a:rPr sz="2000" dirty="0"/>
              <a:t> 5 </a:t>
            </a:r>
            <a:r>
              <a:rPr sz="2000" dirty="0" err="1"/>
              <a:t>tingkat</a:t>
            </a:r>
            <a:r>
              <a:rPr sz="2000" dirty="0"/>
              <a:t> (Researcher -&gt; </a:t>
            </a:r>
            <a:r>
              <a:rPr sz="2000" dirty="0" err="1"/>
              <a:t>Kepala</a:t>
            </a:r>
            <a:r>
              <a:rPr sz="2000" dirty="0"/>
              <a:t> Unit -&gt; </a:t>
            </a:r>
            <a:r>
              <a:rPr sz="2000" dirty="0" err="1"/>
              <a:t>Kepala</a:t>
            </a:r>
            <a:r>
              <a:rPr sz="2000" dirty="0"/>
              <a:t> </a:t>
            </a:r>
            <a:r>
              <a:rPr sz="2000" dirty="0" err="1"/>
              <a:t>Seksi</a:t>
            </a:r>
            <a:r>
              <a:rPr sz="2000" dirty="0"/>
              <a:t> -&gt; </a:t>
            </a:r>
            <a:r>
              <a:rPr sz="2000" dirty="0" err="1"/>
              <a:t>Kepala</a:t>
            </a:r>
            <a:r>
              <a:rPr sz="2000" dirty="0"/>
              <a:t> </a:t>
            </a:r>
            <a:r>
              <a:rPr sz="2000" dirty="0" err="1"/>
              <a:t>Departemen</a:t>
            </a:r>
            <a:r>
              <a:rPr sz="2000" dirty="0"/>
              <a:t> -&gt; </a:t>
            </a:r>
            <a:r>
              <a:rPr sz="2000" dirty="0" err="1"/>
              <a:t>Kepala</a:t>
            </a:r>
            <a:r>
              <a:rPr sz="2000" dirty="0"/>
              <a:t> Divisi).</a:t>
            </a:r>
          </a:p>
          <a:p>
            <a:r>
              <a:rPr sz="2000" dirty="0"/>
              <a:t>Approval Queue: </a:t>
            </a:r>
            <a:r>
              <a:rPr sz="2000" dirty="0" err="1"/>
              <a:t>Membangun</a:t>
            </a:r>
            <a:r>
              <a:rPr sz="2000" dirty="0"/>
              <a:t> </a:t>
            </a:r>
            <a:r>
              <a:rPr sz="2000" dirty="0" err="1"/>
              <a:t>alur</a:t>
            </a:r>
            <a:r>
              <a:rPr sz="2000" dirty="0"/>
              <a:t> </a:t>
            </a:r>
            <a:r>
              <a:rPr sz="2000" dirty="0" err="1"/>
              <a:t>persetujuan</a:t>
            </a:r>
            <a:r>
              <a:rPr sz="2000" dirty="0"/>
              <a:t> </a:t>
            </a:r>
            <a:r>
              <a:rPr sz="2000" dirty="0" err="1"/>
              <a:t>berjenjang</a:t>
            </a:r>
            <a:r>
              <a:rPr sz="2000" dirty="0"/>
              <a:t> </a:t>
            </a:r>
            <a:r>
              <a:rPr sz="2000" dirty="0" err="1"/>
              <a:t>secara</a:t>
            </a:r>
            <a:r>
              <a:rPr sz="2000" dirty="0"/>
              <a:t> digital. </a:t>
            </a:r>
            <a:r>
              <a:rPr sz="2000" dirty="0" err="1"/>
              <a:t>Bawahan</a:t>
            </a:r>
            <a:r>
              <a:rPr sz="2000" dirty="0"/>
              <a:t> </a:t>
            </a:r>
            <a:r>
              <a:rPr sz="2000" dirty="0" err="1"/>
              <a:t>mengirim</a:t>
            </a:r>
            <a:r>
              <a:rPr sz="2000" dirty="0"/>
              <a:t> update, dan </a:t>
            </a:r>
            <a:r>
              <a:rPr sz="2000" dirty="0" err="1"/>
              <a:t>atasan</a:t>
            </a:r>
            <a:r>
              <a:rPr sz="2000" dirty="0"/>
              <a:t> </a:t>
            </a:r>
            <a:r>
              <a:rPr sz="2000" dirty="0" err="1"/>
              <a:t>dapat</a:t>
            </a:r>
            <a:r>
              <a:rPr sz="2000" dirty="0"/>
              <a:t> </a:t>
            </a:r>
            <a:r>
              <a:rPr sz="2000" dirty="0" err="1"/>
              <a:t>melakukan</a:t>
            </a:r>
            <a:r>
              <a:rPr sz="2000" dirty="0"/>
              <a:t> </a:t>
            </a:r>
            <a:r>
              <a:rPr sz="2000" dirty="0" err="1"/>
              <a:t>verifikasi</a:t>
            </a:r>
            <a:r>
              <a:rPr sz="2000" dirty="0"/>
              <a:t> (Approve/Reject) </a:t>
            </a:r>
            <a:r>
              <a:rPr sz="2000" dirty="0" err="1"/>
              <a:t>dalam</a:t>
            </a:r>
            <a:r>
              <a:rPr sz="2000" dirty="0"/>
              <a:t> 1 </a:t>
            </a:r>
            <a:r>
              <a:rPr sz="2000" dirty="0" err="1"/>
              <a:t>klik</a:t>
            </a:r>
            <a:r>
              <a:rPr sz="2000" dirty="0"/>
              <a:t>.</a:t>
            </a:r>
          </a:p>
          <a:p>
            <a:r>
              <a:rPr sz="2000" dirty="0"/>
              <a:t>Fitur Draft: </a:t>
            </a:r>
            <a:r>
              <a:rPr sz="2000" dirty="0" err="1"/>
              <a:t>Penambahan</a:t>
            </a:r>
            <a:r>
              <a:rPr sz="2000" dirty="0"/>
              <a:t> </a:t>
            </a:r>
            <a:r>
              <a:rPr sz="2000" dirty="0" err="1"/>
              <a:t>fitur</a:t>
            </a:r>
            <a:r>
              <a:rPr sz="2000" dirty="0"/>
              <a:t> 'Save as Draft' agar Researcher </a:t>
            </a:r>
            <a:r>
              <a:rPr sz="2000" dirty="0" err="1"/>
              <a:t>dapat</a:t>
            </a:r>
            <a:r>
              <a:rPr sz="2000" dirty="0"/>
              <a:t> </a:t>
            </a:r>
            <a:r>
              <a:rPr sz="2000" dirty="0" err="1"/>
              <a:t>menyimpan</a:t>
            </a:r>
            <a:r>
              <a:rPr sz="2000" dirty="0"/>
              <a:t> </a:t>
            </a:r>
            <a:r>
              <a:rPr sz="2000" dirty="0" err="1"/>
              <a:t>progres</a:t>
            </a:r>
            <a:r>
              <a:rPr sz="2000" dirty="0"/>
              <a:t> </a:t>
            </a:r>
            <a:r>
              <a:rPr sz="2000" dirty="0" err="1"/>
              <a:t>sementara</a:t>
            </a:r>
            <a:r>
              <a:rPr sz="2000" dirty="0"/>
              <a:t> </a:t>
            </a:r>
            <a:r>
              <a:rPr sz="2000" dirty="0" err="1"/>
              <a:t>sebelum</a:t>
            </a:r>
            <a:r>
              <a:rPr sz="2000" dirty="0"/>
              <a:t> </a:t>
            </a:r>
            <a:r>
              <a:rPr sz="2000" dirty="0" err="1"/>
              <a:t>disubmit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04 - Solusi: Iterasi 2 (Integrasi Database &amp; Cloud)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 err="1"/>
              <a:t>Setelah</a:t>
            </a:r>
            <a:r>
              <a:rPr sz="2000" dirty="0"/>
              <a:t> </a:t>
            </a:r>
            <a:r>
              <a:rPr sz="2000" dirty="0" err="1"/>
              <a:t>antarmuka</a:t>
            </a:r>
            <a:r>
              <a:rPr sz="2000" dirty="0"/>
              <a:t> </a:t>
            </a:r>
            <a:r>
              <a:rPr sz="2000" dirty="0" err="1"/>
              <a:t>selesai</a:t>
            </a:r>
            <a:r>
              <a:rPr sz="2000" dirty="0"/>
              <a:t>, </a:t>
            </a:r>
            <a:r>
              <a:rPr sz="2000" dirty="0" err="1"/>
              <a:t>pengembangan</a:t>
            </a:r>
            <a:r>
              <a:rPr sz="2000" dirty="0"/>
              <a:t> </a:t>
            </a:r>
            <a:r>
              <a:rPr sz="2000" dirty="0" err="1"/>
              <a:t>dilanjutkan</a:t>
            </a:r>
            <a:r>
              <a:rPr sz="2000" dirty="0"/>
              <a:t> </a:t>
            </a:r>
            <a:r>
              <a:rPr sz="2000" dirty="0" err="1"/>
              <a:t>ke</a:t>
            </a:r>
            <a:r>
              <a:rPr sz="2000" dirty="0"/>
              <a:t> </a:t>
            </a:r>
            <a:r>
              <a:rPr sz="2000" dirty="0" err="1"/>
              <a:t>arsitektur</a:t>
            </a:r>
            <a:r>
              <a:rPr sz="2000" dirty="0"/>
              <a:t> backend </a:t>
            </a:r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menjamin</a:t>
            </a:r>
            <a:r>
              <a:rPr sz="2000" dirty="0"/>
              <a:t> </a:t>
            </a:r>
            <a:r>
              <a:rPr sz="2000" dirty="0" err="1"/>
              <a:t>keamanan</a:t>
            </a:r>
            <a:r>
              <a:rPr sz="2000" dirty="0"/>
              <a:t> dan </a:t>
            </a:r>
            <a:r>
              <a:rPr sz="2000" dirty="0" err="1"/>
              <a:t>persistensi</a:t>
            </a:r>
            <a:r>
              <a:rPr sz="2000" dirty="0"/>
              <a:t> data.</a:t>
            </a:r>
          </a:p>
          <a:p>
            <a:r>
              <a:rPr sz="2000" dirty="0"/>
              <a:t>Cloud Database: </a:t>
            </a:r>
            <a:r>
              <a:rPr sz="2000" dirty="0" err="1"/>
              <a:t>Mengimplementasikan</a:t>
            </a:r>
            <a:r>
              <a:rPr sz="2000" dirty="0"/>
              <a:t> PostgreSQL di Cloud (</a:t>
            </a:r>
            <a:r>
              <a:rPr sz="2000" dirty="0" err="1"/>
              <a:t>Supabase</a:t>
            </a:r>
            <a:r>
              <a:rPr sz="2000" dirty="0"/>
              <a:t>) </a:t>
            </a:r>
            <a:r>
              <a:rPr sz="2000" dirty="0" err="1"/>
              <a:t>dikombinasikan</a:t>
            </a:r>
            <a:r>
              <a:rPr sz="2000" dirty="0"/>
              <a:t> </a:t>
            </a:r>
            <a:r>
              <a:rPr sz="2000" dirty="0" err="1"/>
              <a:t>dengan</a:t>
            </a:r>
            <a:r>
              <a:rPr sz="2000" dirty="0"/>
              <a:t> Prisma ORM </a:t>
            </a:r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manajemen</a:t>
            </a:r>
            <a:r>
              <a:rPr sz="2000" dirty="0"/>
              <a:t> data </a:t>
            </a:r>
            <a:r>
              <a:rPr sz="2000" dirty="0" err="1"/>
              <a:t>relasional</a:t>
            </a:r>
            <a:r>
              <a:rPr sz="2000" dirty="0"/>
              <a:t>.</a:t>
            </a:r>
          </a:p>
          <a:p>
            <a:r>
              <a:rPr sz="2000" dirty="0" err="1"/>
              <a:t>Kredensial</a:t>
            </a:r>
            <a:r>
              <a:rPr sz="2000" dirty="0"/>
              <a:t> Aman: </a:t>
            </a:r>
            <a:r>
              <a:rPr sz="2000" dirty="0" err="1"/>
              <a:t>Mendaftarkan</a:t>
            </a:r>
            <a:r>
              <a:rPr sz="2000" dirty="0"/>
              <a:t> </a:t>
            </a:r>
            <a:r>
              <a:rPr sz="2000" dirty="0" err="1"/>
              <a:t>seluruh</a:t>
            </a:r>
            <a:r>
              <a:rPr sz="2000" dirty="0"/>
              <a:t> </a:t>
            </a:r>
            <a:r>
              <a:rPr sz="2000" dirty="0" err="1"/>
              <a:t>akun</a:t>
            </a:r>
            <a:r>
              <a:rPr sz="2000" dirty="0"/>
              <a:t> (9 User </a:t>
            </a:r>
            <a:r>
              <a:rPr sz="2000" dirty="0" err="1"/>
              <a:t>utama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berbagai</a:t>
            </a:r>
            <a:r>
              <a:rPr sz="2000" dirty="0"/>
              <a:t> level) </a:t>
            </a:r>
            <a:r>
              <a:rPr sz="2000" dirty="0" err="1"/>
              <a:t>secara</a:t>
            </a:r>
            <a:r>
              <a:rPr sz="2000" dirty="0"/>
              <a:t> </a:t>
            </a:r>
            <a:r>
              <a:rPr sz="2000" dirty="0" err="1"/>
              <a:t>terpusat</a:t>
            </a:r>
            <a:r>
              <a:rPr sz="2000" dirty="0"/>
              <a:t> agar </a:t>
            </a:r>
            <a:r>
              <a:rPr sz="2000" dirty="0" err="1"/>
              <a:t>sistem</a:t>
            </a:r>
            <a:r>
              <a:rPr sz="2000" dirty="0"/>
              <a:t> </a:t>
            </a:r>
            <a:r>
              <a:rPr sz="2000" dirty="0" err="1"/>
              <a:t>bisa</a:t>
            </a:r>
            <a:r>
              <a:rPr sz="2000" dirty="0"/>
              <a:t> </a:t>
            </a:r>
            <a:r>
              <a:rPr sz="2000" dirty="0" err="1"/>
              <a:t>diakses</a:t>
            </a:r>
            <a:r>
              <a:rPr sz="2000" dirty="0"/>
              <a:t> </a:t>
            </a:r>
            <a:r>
              <a:rPr sz="2000" dirty="0" err="1"/>
              <a:t>dari</a:t>
            </a:r>
            <a:r>
              <a:rPr sz="2000" dirty="0"/>
              <a:t> </a:t>
            </a:r>
            <a:r>
              <a:rPr sz="2000" dirty="0" err="1"/>
              <a:t>berbagai</a:t>
            </a:r>
            <a:r>
              <a:rPr sz="2000" dirty="0"/>
              <a:t> </a:t>
            </a:r>
            <a:r>
              <a:rPr sz="2000" dirty="0" err="1"/>
              <a:t>perangkat</a:t>
            </a:r>
            <a:r>
              <a:rPr sz="2000" dirty="0"/>
              <a:t> </a:t>
            </a:r>
            <a:r>
              <a:rPr sz="2000" dirty="0" err="1"/>
              <a:t>secara</a:t>
            </a:r>
            <a:r>
              <a:rPr sz="2000" dirty="0"/>
              <a:t> </a:t>
            </a:r>
            <a:r>
              <a:rPr sz="2000" dirty="0" err="1"/>
              <a:t>konsisten</a:t>
            </a:r>
            <a:r>
              <a:rPr sz="2000" dirty="0"/>
              <a:t> </a:t>
            </a:r>
            <a:r>
              <a:rPr sz="2000" dirty="0" err="1"/>
              <a:t>tanpa</a:t>
            </a:r>
            <a:r>
              <a:rPr sz="2000" dirty="0"/>
              <a:t> </a:t>
            </a:r>
            <a:r>
              <a:rPr sz="2000" dirty="0" err="1"/>
              <a:t>kehilangan</a:t>
            </a:r>
            <a:r>
              <a:rPr sz="2000" dirty="0"/>
              <a:t>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04 - Solusi: Iterasi 3 (File Management Terpusat)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Kendala</a:t>
            </a:r>
            <a:r>
              <a:rPr sz="2400" dirty="0"/>
              <a:t> pada </a:t>
            </a:r>
            <a:r>
              <a:rPr sz="2400" dirty="0" err="1"/>
              <a:t>sistem</a:t>
            </a:r>
            <a:r>
              <a:rPr sz="2400" dirty="0"/>
              <a:t> lama </a:t>
            </a:r>
            <a:r>
              <a:rPr sz="2400" dirty="0" err="1"/>
              <a:t>adalah</a:t>
            </a:r>
            <a:r>
              <a:rPr sz="2400" dirty="0"/>
              <a:t> </a:t>
            </a:r>
            <a:r>
              <a:rPr sz="2400" dirty="0" err="1"/>
              <a:t>hilangnya</a:t>
            </a:r>
            <a:r>
              <a:rPr sz="2400" dirty="0"/>
              <a:t> </a:t>
            </a:r>
            <a:r>
              <a:rPr sz="2400" dirty="0" err="1"/>
              <a:t>jejak</a:t>
            </a:r>
            <a:r>
              <a:rPr sz="2400" dirty="0"/>
              <a:t> </a:t>
            </a:r>
            <a:r>
              <a:rPr sz="2400" dirty="0" err="1"/>
              <a:t>dokumen</a:t>
            </a:r>
            <a:r>
              <a:rPr sz="2400" dirty="0"/>
              <a:t> </a:t>
            </a:r>
            <a:r>
              <a:rPr sz="2400" dirty="0" err="1"/>
              <a:t>pendukung</a:t>
            </a:r>
            <a:r>
              <a:rPr sz="2400" dirty="0"/>
              <a:t> (evidence).</a:t>
            </a:r>
          </a:p>
          <a:p>
            <a:r>
              <a:rPr sz="2400" dirty="0" err="1"/>
              <a:t>Pengembangan</a:t>
            </a:r>
            <a:r>
              <a:rPr sz="2400" dirty="0"/>
              <a:t> Backend: </a:t>
            </a:r>
            <a:r>
              <a:rPr sz="2400" dirty="0" err="1"/>
              <a:t>Menggunakan</a:t>
            </a:r>
            <a:r>
              <a:rPr sz="2400" dirty="0"/>
              <a:t> Node.js dan library </a:t>
            </a:r>
            <a:r>
              <a:rPr sz="2400" dirty="0" err="1"/>
              <a:t>Multer</a:t>
            </a:r>
            <a:r>
              <a:rPr sz="2400" dirty="0"/>
              <a:t> </a:t>
            </a:r>
            <a:r>
              <a:rPr sz="2400" dirty="0" err="1"/>
              <a:t>untuk</a:t>
            </a:r>
            <a:r>
              <a:rPr sz="2400" dirty="0"/>
              <a:t> </a:t>
            </a:r>
            <a:r>
              <a:rPr sz="2400" dirty="0" err="1"/>
              <a:t>menciptakan</a:t>
            </a:r>
            <a:r>
              <a:rPr sz="2400" dirty="0"/>
              <a:t> </a:t>
            </a:r>
            <a:r>
              <a:rPr sz="2400" dirty="0" err="1"/>
              <a:t>sistem</a:t>
            </a:r>
            <a:r>
              <a:rPr sz="2400" dirty="0"/>
              <a:t> 'File Upload' yang robust.</a:t>
            </a:r>
          </a:p>
          <a:p>
            <a:r>
              <a:rPr sz="2400" dirty="0"/>
              <a:t>Single Source of Truth: Kini, </a:t>
            </a:r>
            <a:r>
              <a:rPr sz="2400" dirty="0" err="1"/>
              <a:t>setiap</a:t>
            </a:r>
            <a:r>
              <a:rPr sz="2400" dirty="0"/>
              <a:t> update </a:t>
            </a:r>
            <a:r>
              <a:rPr sz="2400" dirty="0" err="1"/>
              <a:t>progres</a:t>
            </a:r>
            <a:r>
              <a:rPr sz="2400" dirty="0"/>
              <a:t> di AIMON </a:t>
            </a:r>
            <a:r>
              <a:rPr sz="2400" dirty="0" err="1"/>
              <a:t>diwajibkan</a:t>
            </a:r>
            <a:r>
              <a:rPr sz="2400" dirty="0"/>
              <a:t> </a:t>
            </a:r>
            <a:r>
              <a:rPr sz="2400" dirty="0" err="1"/>
              <a:t>menyertakan</a:t>
            </a:r>
            <a:r>
              <a:rPr sz="2400" dirty="0"/>
              <a:t> file </a:t>
            </a:r>
            <a:r>
              <a:rPr sz="2400" dirty="0" err="1"/>
              <a:t>asli</a:t>
            </a:r>
            <a:r>
              <a:rPr sz="2400" dirty="0"/>
              <a:t> (PDF, </a:t>
            </a:r>
            <a:r>
              <a:rPr sz="2400" dirty="0" err="1"/>
              <a:t>gambar</a:t>
            </a:r>
            <a:r>
              <a:rPr sz="2400" dirty="0"/>
              <a:t>, </a:t>
            </a:r>
            <a:r>
              <a:rPr sz="2400" dirty="0" err="1"/>
              <a:t>dokumen</a:t>
            </a:r>
            <a:r>
              <a:rPr sz="2400" dirty="0"/>
              <a:t>).</a:t>
            </a:r>
          </a:p>
          <a:p>
            <a:r>
              <a:rPr sz="2400" dirty="0" err="1"/>
              <a:t>Aksesibilitas</a:t>
            </a:r>
            <a:r>
              <a:rPr sz="2400" dirty="0"/>
              <a:t>: </a:t>
            </a:r>
            <a:r>
              <a:rPr sz="2400" dirty="0" err="1"/>
              <a:t>Atasan</a:t>
            </a:r>
            <a:r>
              <a:rPr sz="2400" dirty="0"/>
              <a:t> yang me-review </a:t>
            </a:r>
            <a:r>
              <a:rPr sz="2400" dirty="0" err="1"/>
              <a:t>dapat</a:t>
            </a:r>
            <a:r>
              <a:rPr sz="2400" dirty="0"/>
              <a:t> </a:t>
            </a:r>
            <a:r>
              <a:rPr sz="2400" dirty="0" err="1"/>
              <a:t>langsung</a:t>
            </a:r>
            <a:r>
              <a:rPr sz="2400" dirty="0"/>
              <a:t> </a:t>
            </a:r>
            <a:r>
              <a:rPr sz="2400" dirty="0" err="1"/>
              <a:t>mengklik</a:t>
            </a:r>
            <a:r>
              <a:rPr sz="2400" dirty="0"/>
              <a:t> '</a:t>
            </a:r>
            <a:r>
              <a:rPr sz="2400" dirty="0" err="1"/>
              <a:t>Lihat</a:t>
            </a:r>
            <a:r>
              <a:rPr sz="2400" dirty="0"/>
              <a:t>' </a:t>
            </a:r>
            <a:r>
              <a:rPr sz="2400" dirty="0" err="1"/>
              <a:t>atau</a:t>
            </a:r>
            <a:r>
              <a:rPr sz="2400" dirty="0"/>
              <a:t> '</a:t>
            </a:r>
            <a:r>
              <a:rPr sz="2400" dirty="0" err="1"/>
              <a:t>Unduh</a:t>
            </a:r>
            <a:r>
              <a:rPr sz="2400" dirty="0"/>
              <a:t>' file </a:t>
            </a:r>
            <a:r>
              <a:rPr sz="2400" dirty="0" err="1"/>
              <a:t>tersebut</a:t>
            </a:r>
            <a:r>
              <a:rPr sz="2400" dirty="0"/>
              <a:t> </a:t>
            </a:r>
            <a:r>
              <a:rPr sz="2400" dirty="0" err="1"/>
              <a:t>tanpa</a:t>
            </a:r>
            <a:r>
              <a:rPr sz="2400" dirty="0"/>
              <a:t> </a:t>
            </a:r>
            <a:r>
              <a:rPr sz="2400" dirty="0" err="1"/>
              <a:t>harus</a:t>
            </a:r>
            <a:r>
              <a:rPr sz="2400" dirty="0"/>
              <a:t> </a:t>
            </a:r>
            <a:r>
              <a:rPr sz="2400" dirty="0" err="1"/>
              <a:t>keluar</a:t>
            </a:r>
            <a:r>
              <a:rPr sz="2400" dirty="0"/>
              <a:t> </a:t>
            </a:r>
            <a:r>
              <a:rPr sz="2400" dirty="0" err="1"/>
              <a:t>dari</a:t>
            </a:r>
            <a:r>
              <a:rPr sz="2400" dirty="0"/>
              <a:t> dashboard.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04 - Solusi: Iterasi 4 (Sistem Komunikasi Real-time)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mengatasi</a:t>
            </a:r>
            <a:r>
              <a:rPr sz="2000" dirty="0"/>
              <a:t> </a:t>
            </a:r>
            <a:r>
              <a:rPr sz="2000" dirty="0" err="1"/>
              <a:t>masalah</a:t>
            </a:r>
            <a:r>
              <a:rPr sz="2000" dirty="0"/>
              <a:t> </a:t>
            </a:r>
            <a:r>
              <a:rPr sz="2000" dirty="0" err="1"/>
              <a:t>lambatnya</a:t>
            </a:r>
            <a:r>
              <a:rPr sz="2000" dirty="0"/>
              <a:t> </a:t>
            </a:r>
            <a:r>
              <a:rPr sz="2000" dirty="0" err="1"/>
              <a:t>komunikasi</a:t>
            </a:r>
            <a:r>
              <a:rPr sz="2000" dirty="0"/>
              <a:t> </a:t>
            </a:r>
            <a:r>
              <a:rPr sz="2000" dirty="0" err="1"/>
              <a:t>revisi</a:t>
            </a:r>
            <a:r>
              <a:rPr sz="2000" dirty="0"/>
              <a:t>, </a:t>
            </a:r>
            <a:r>
              <a:rPr sz="2000" dirty="0" err="1"/>
              <a:t>dibangun</a:t>
            </a:r>
            <a:r>
              <a:rPr sz="2000" dirty="0"/>
              <a:t> </a:t>
            </a:r>
            <a:r>
              <a:rPr sz="2000" dirty="0" err="1"/>
              <a:t>fitur</a:t>
            </a:r>
            <a:r>
              <a:rPr sz="2000" dirty="0"/>
              <a:t> In-App Chat ala WhatsApp di </a:t>
            </a:r>
            <a:r>
              <a:rPr sz="2000" dirty="0" err="1"/>
              <a:t>dalam</a:t>
            </a:r>
            <a:r>
              <a:rPr sz="2000" dirty="0"/>
              <a:t> AIMON.</a:t>
            </a:r>
          </a:p>
          <a:p>
            <a:r>
              <a:rPr sz="2000" dirty="0"/>
              <a:t>Real-time Notification: </a:t>
            </a:r>
            <a:r>
              <a:rPr sz="2000" dirty="0" err="1"/>
              <a:t>Munculnya</a:t>
            </a:r>
            <a:r>
              <a:rPr sz="2000" dirty="0"/>
              <a:t> </a:t>
            </a:r>
            <a:r>
              <a:rPr sz="2000" dirty="0" err="1"/>
              <a:t>angka</a:t>
            </a:r>
            <a:r>
              <a:rPr sz="2000" dirty="0"/>
              <a:t> </a:t>
            </a:r>
            <a:r>
              <a:rPr sz="2000" dirty="0" err="1"/>
              <a:t>notifikasi</a:t>
            </a:r>
            <a:r>
              <a:rPr sz="2000" dirty="0"/>
              <a:t> (badge </a:t>
            </a:r>
            <a:r>
              <a:rPr sz="2000" dirty="0" err="1"/>
              <a:t>merah</a:t>
            </a:r>
            <a:r>
              <a:rPr sz="2000" dirty="0"/>
              <a:t>) dan highlight </a:t>
            </a:r>
            <a:r>
              <a:rPr sz="2000" dirty="0" err="1"/>
              <a:t>teks</a:t>
            </a:r>
            <a:r>
              <a:rPr sz="2000" dirty="0"/>
              <a:t> </a:t>
            </a:r>
            <a:r>
              <a:rPr sz="2000" dirty="0" err="1"/>
              <a:t>berwarna</a:t>
            </a:r>
            <a:r>
              <a:rPr sz="2000" dirty="0"/>
              <a:t> </a:t>
            </a:r>
            <a:r>
              <a:rPr sz="2000" dirty="0" err="1"/>
              <a:t>biru</a:t>
            </a:r>
            <a:r>
              <a:rPr sz="2000" dirty="0"/>
              <a:t> </a:t>
            </a:r>
            <a:r>
              <a:rPr sz="2000" dirty="0" err="1"/>
              <a:t>ketika</a:t>
            </a:r>
            <a:r>
              <a:rPr sz="2000" dirty="0"/>
              <a:t> </a:t>
            </a:r>
            <a:r>
              <a:rPr sz="2000" dirty="0" err="1"/>
              <a:t>ada</a:t>
            </a:r>
            <a:r>
              <a:rPr sz="2000" dirty="0"/>
              <a:t> </a:t>
            </a:r>
            <a:r>
              <a:rPr sz="2000" dirty="0" err="1"/>
              <a:t>pesan</a:t>
            </a:r>
            <a:r>
              <a:rPr sz="2000" dirty="0"/>
              <a:t> </a:t>
            </a:r>
            <a:r>
              <a:rPr sz="2000" dirty="0" err="1"/>
              <a:t>baru</a:t>
            </a:r>
            <a:r>
              <a:rPr sz="2000" dirty="0"/>
              <a:t> yang </a:t>
            </a:r>
            <a:r>
              <a:rPr sz="2000" dirty="0" err="1"/>
              <a:t>belum</a:t>
            </a:r>
            <a:r>
              <a:rPr sz="2000" dirty="0"/>
              <a:t> </a:t>
            </a:r>
            <a:r>
              <a:rPr sz="2000" dirty="0" err="1"/>
              <a:t>dibaca</a:t>
            </a:r>
            <a:r>
              <a:rPr sz="2000" dirty="0"/>
              <a:t>.</a:t>
            </a:r>
          </a:p>
          <a:p>
            <a:r>
              <a:rPr sz="2000" dirty="0"/>
              <a:t>Smart Sorting: </a:t>
            </a:r>
            <a:r>
              <a:rPr sz="2000" dirty="0" err="1"/>
              <a:t>Kontak</a:t>
            </a:r>
            <a:r>
              <a:rPr sz="2000" dirty="0"/>
              <a:t> yang </a:t>
            </a:r>
            <a:r>
              <a:rPr sz="2000" dirty="0" err="1"/>
              <a:t>baru</a:t>
            </a:r>
            <a:r>
              <a:rPr sz="2000" dirty="0"/>
              <a:t> </a:t>
            </a:r>
            <a:r>
              <a:rPr sz="2000" dirty="0" err="1"/>
              <a:t>saja</a:t>
            </a:r>
            <a:r>
              <a:rPr sz="2000" dirty="0"/>
              <a:t> </a:t>
            </a:r>
            <a:r>
              <a:rPr sz="2000" dirty="0" err="1"/>
              <a:t>mengirim</a:t>
            </a:r>
            <a:r>
              <a:rPr sz="2000" dirty="0"/>
              <a:t> </a:t>
            </a:r>
            <a:r>
              <a:rPr sz="2000" dirty="0" err="1"/>
              <a:t>pesan</a:t>
            </a:r>
            <a:r>
              <a:rPr sz="2000" dirty="0"/>
              <a:t> </a:t>
            </a:r>
            <a:r>
              <a:rPr sz="2000" dirty="0" err="1"/>
              <a:t>otomatis</a:t>
            </a:r>
            <a:r>
              <a:rPr sz="2000" dirty="0"/>
              <a:t> naik </a:t>
            </a:r>
            <a:r>
              <a:rPr sz="2000" dirty="0" err="1"/>
              <a:t>ke</a:t>
            </a:r>
            <a:r>
              <a:rPr sz="2000" dirty="0"/>
              <a:t> </a:t>
            </a:r>
            <a:r>
              <a:rPr sz="2000" dirty="0" err="1"/>
              <a:t>urutan</a:t>
            </a:r>
            <a:r>
              <a:rPr sz="2000" dirty="0"/>
              <a:t> paling </a:t>
            </a:r>
            <a:r>
              <a:rPr sz="2000" dirty="0" err="1"/>
              <a:t>atas</a:t>
            </a:r>
            <a:r>
              <a:rPr sz="2000" dirty="0"/>
              <a:t>.</a:t>
            </a:r>
          </a:p>
          <a:p>
            <a:r>
              <a:rPr sz="2000" dirty="0"/>
              <a:t>UI/UX Enterprise: </a:t>
            </a:r>
            <a:r>
              <a:rPr sz="2000" dirty="0" err="1"/>
              <a:t>Implementasi</a:t>
            </a:r>
            <a:r>
              <a:rPr sz="2000" dirty="0"/>
              <a:t> pop-up modal </a:t>
            </a:r>
            <a:r>
              <a:rPr sz="2000" dirty="0" err="1"/>
              <a:t>elegan</a:t>
            </a:r>
            <a:r>
              <a:rPr sz="2000" dirty="0"/>
              <a:t> </a:t>
            </a:r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penolakan</a:t>
            </a:r>
            <a:r>
              <a:rPr sz="2000" dirty="0"/>
              <a:t> (reject), </a:t>
            </a:r>
            <a:r>
              <a:rPr sz="2000" dirty="0" err="1"/>
              <a:t>fitur</a:t>
            </a:r>
            <a:r>
              <a:rPr sz="2000" dirty="0"/>
              <a:t> auto-initial </a:t>
            </a:r>
            <a:r>
              <a:rPr sz="2000" dirty="0" err="1"/>
              <a:t>untuk</a:t>
            </a:r>
            <a:r>
              <a:rPr sz="2000" dirty="0"/>
              <a:t> </a:t>
            </a:r>
            <a:r>
              <a:rPr sz="2000" dirty="0" err="1"/>
              <a:t>foto</a:t>
            </a:r>
            <a:r>
              <a:rPr sz="2000" dirty="0"/>
              <a:t> </a:t>
            </a:r>
            <a:r>
              <a:rPr sz="2000" dirty="0" err="1"/>
              <a:t>profil</a:t>
            </a:r>
            <a:r>
              <a:rPr sz="2000" dirty="0"/>
              <a:t> (</a:t>
            </a:r>
            <a:r>
              <a:rPr sz="2000" dirty="0" err="1"/>
              <a:t>misal</a:t>
            </a:r>
            <a:r>
              <a:rPr sz="2000" dirty="0"/>
              <a:t>: 'TA' </a:t>
            </a:r>
            <a:r>
              <a:rPr sz="2000" dirty="0" err="1"/>
              <a:t>untuk</a:t>
            </a:r>
            <a:r>
              <a:rPr sz="2000" dirty="0"/>
              <a:t> Titi </a:t>
            </a:r>
            <a:r>
              <a:rPr sz="2000" dirty="0" err="1"/>
              <a:t>Andayani</a:t>
            </a:r>
            <a:r>
              <a:rPr sz="2000" dirty="0"/>
              <a:t>), dan status online.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05 - Implementasi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Lingkup</a:t>
            </a:r>
            <a:r>
              <a:rPr sz="2400" dirty="0"/>
              <a:t> Uji (MVP): 9 </a:t>
            </a:r>
            <a:r>
              <a:rPr sz="2400" dirty="0" err="1"/>
              <a:t>Pengguna</a:t>
            </a:r>
            <a:r>
              <a:rPr sz="2400" dirty="0"/>
              <a:t> </a:t>
            </a:r>
            <a:r>
              <a:rPr sz="2400" dirty="0" err="1"/>
              <a:t>utama</a:t>
            </a:r>
            <a:r>
              <a:rPr sz="2400" dirty="0"/>
              <a:t> yang </a:t>
            </a:r>
            <a:r>
              <a:rPr sz="2400" dirty="0" err="1"/>
              <a:t>mewakili</a:t>
            </a:r>
            <a:r>
              <a:rPr sz="2400" dirty="0"/>
              <a:t> </a:t>
            </a:r>
            <a:r>
              <a:rPr sz="2400" dirty="0" err="1"/>
              <a:t>eksekusi</a:t>
            </a:r>
            <a:r>
              <a:rPr sz="2400" dirty="0"/>
              <a:t> </a:t>
            </a:r>
            <a:r>
              <a:rPr sz="2400" dirty="0" err="1"/>
              <a:t>proyek</a:t>
            </a:r>
            <a:r>
              <a:rPr sz="2400" dirty="0"/>
              <a:t> di </a:t>
            </a:r>
            <a:r>
              <a:rPr sz="2400" dirty="0" err="1"/>
              <a:t>berbagai</a:t>
            </a:r>
            <a:r>
              <a:rPr sz="2400" dirty="0"/>
              <a:t> area.</a:t>
            </a:r>
          </a:p>
          <a:p>
            <a:r>
              <a:rPr sz="2400" dirty="0" err="1"/>
              <a:t>Kendala</a:t>
            </a:r>
            <a:r>
              <a:rPr sz="2400" dirty="0"/>
              <a:t> </a:t>
            </a:r>
            <a:r>
              <a:rPr sz="2400" dirty="0" err="1"/>
              <a:t>Implementasi</a:t>
            </a:r>
            <a:r>
              <a:rPr sz="2400" dirty="0"/>
              <a:t>: </a:t>
            </a:r>
            <a:r>
              <a:rPr sz="2400" dirty="0" err="1"/>
              <a:t>Terjadi</a:t>
            </a:r>
            <a:r>
              <a:rPr sz="2400" dirty="0"/>
              <a:t> gap </a:t>
            </a:r>
            <a:r>
              <a:rPr sz="2400" dirty="0" err="1"/>
              <a:t>sinkronisasi</a:t>
            </a:r>
            <a:r>
              <a:rPr sz="2400" dirty="0"/>
              <a:t> data </a:t>
            </a:r>
            <a:r>
              <a:rPr sz="2400" dirty="0" err="1"/>
              <a:t>ketika</a:t>
            </a:r>
            <a:r>
              <a:rPr sz="2400" dirty="0"/>
              <a:t> </a:t>
            </a:r>
            <a:r>
              <a:rPr sz="2400" dirty="0" err="1"/>
              <a:t>beberapa</a:t>
            </a:r>
            <a:r>
              <a:rPr sz="2400" dirty="0"/>
              <a:t> </a:t>
            </a:r>
            <a:r>
              <a:rPr sz="2400" dirty="0" err="1"/>
              <a:t>atasan</a:t>
            </a:r>
            <a:r>
              <a:rPr sz="2400" dirty="0"/>
              <a:t> dan </a:t>
            </a:r>
            <a:r>
              <a:rPr sz="2400" dirty="0" err="1"/>
              <a:t>bawahan</a:t>
            </a:r>
            <a:r>
              <a:rPr sz="2400" dirty="0"/>
              <a:t> </a:t>
            </a:r>
            <a:r>
              <a:rPr sz="2400" dirty="0" err="1"/>
              <a:t>menggunakan</a:t>
            </a:r>
            <a:r>
              <a:rPr sz="2400" dirty="0"/>
              <a:t> </a:t>
            </a:r>
            <a:r>
              <a:rPr sz="2400" dirty="0" err="1"/>
              <a:t>sistem</a:t>
            </a:r>
            <a:r>
              <a:rPr sz="2400" dirty="0"/>
              <a:t> </a:t>
            </a:r>
            <a:r>
              <a:rPr sz="2400" dirty="0" err="1"/>
              <a:t>secara</a:t>
            </a:r>
            <a:r>
              <a:rPr sz="2400" dirty="0"/>
              <a:t> </a:t>
            </a:r>
            <a:r>
              <a:rPr sz="2400" dirty="0" err="1"/>
              <a:t>bersamaan</a:t>
            </a:r>
            <a:r>
              <a:rPr sz="2400" dirty="0"/>
              <a:t> di browser </a:t>
            </a:r>
            <a:r>
              <a:rPr sz="2400" dirty="0" err="1"/>
              <a:t>berbeda</a:t>
            </a:r>
            <a:r>
              <a:rPr sz="2400" dirty="0"/>
              <a:t>.</a:t>
            </a:r>
          </a:p>
          <a:p>
            <a:r>
              <a:rPr sz="2400" dirty="0"/>
              <a:t>Cara </a:t>
            </a:r>
            <a:r>
              <a:rPr sz="2400" dirty="0" err="1"/>
              <a:t>Penanggulangan</a:t>
            </a:r>
            <a:r>
              <a:rPr sz="2400" dirty="0"/>
              <a:t>: </a:t>
            </a:r>
            <a:r>
              <a:rPr sz="2400" dirty="0" err="1"/>
              <a:t>Mengembangkan</a:t>
            </a:r>
            <a:r>
              <a:rPr sz="2400" dirty="0"/>
              <a:t> </a:t>
            </a:r>
            <a:r>
              <a:rPr sz="2400" dirty="0" err="1"/>
              <a:t>arsitektur</a:t>
            </a:r>
            <a:r>
              <a:rPr sz="2400" dirty="0"/>
              <a:t> Web Event Listener </a:t>
            </a:r>
            <a:r>
              <a:rPr sz="2400" dirty="0" err="1"/>
              <a:t>berbasis</a:t>
            </a:r>
            <a:r>
              <a:rPr sz="2400" dirty="0"/>
              <a:t> Local Storage dan API backend yang </a:t>
            </a:r>
            <a:r>
              <a:rPr sz="2400" dirty="0" err="1"/>
              <a:t>sinkron</a:t>
            </a:r>
            <a:r>
              <a:rPr sz="2400" dirty="0"/>
              <a:t> </a:t>
            </a:r>
            <a:r>
              <a:rPr sz="2400" dirty="0" err="1"/>
              <a:t>secara</a:t>
            </a:r>
            <a:r>
              <a:rPr sz="2400" dirty="0"/>
              <a:t> </a:t>
            </a:r>
            <a:r>
              <a:rPr sz="2400" dirty="0" err="1"/>
              <a:t>instan</a:t>
            </a:r>
            <a:r>
              <a:rPr sz="2400" dirty="0"/>
              <a:t> </a:t>
            </a:r>
            <a:r>
              <a:rPr sz="2400" dirty="0" err="1"/>
              <a:t>antar</a:t>
            </a:r>
            <a:r>
              <a:rPr sz="2400" dirty="0"/>
              <a:t> tab/</a:t>
            </a:r>
            <a:r>
              <a:rPr sz="2400" dirty="0" err="1"/>
              <a:t>komputer</a:t>
            </a:r>
            <a:r>
              <a:rPr sz="2400" dirty="0"/>
              <a:t> </a:t>
            </a:r>
            <a:r>
              <a:rPr sz="2400" dirty="0" err="1"/>
              <a:t>tanpa</a:t>
            </a:r>
            <a:r>
              <a:rPr sz="2400" dirty="0"/>
              <a:t> </a:t>
            </a:r>
            <a:r>
              <a:rPr sz="2400" dirty="0" err="1"/>
              <a:t>perlu</a:t>
            </a:r>
            <a:r>
              <a:rPr sz="2400" dirty="0"/>
              <a:t> refresh </a:t>
            </a:r>
            <a:r>
              <a:rPr sz="2400" dirty="0" err="1"/>
              <a:t>halaman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06 - Dampak (Impact)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 Avoidance: Menghilangkan puluhan jam kerja rekapitulasi manual di akhir bulan.</a:t>
            </a:r>
          </a:p>
          <a:p>
            <a:r>
              <a:t>Transparansi &amp; Kepatuhan: Setiap tindakan (Approve, Reject, Update) memiliki rekam jejak digital yang tidak bisa dimanipulasi, lengkap dengan dokumen aslinya.</a:t>
            </a:r>
          </a:p>
          <a:p>
            <a:r>
              <a:t>Kepuasan Pengguna: Kurva pembelajaran (learning curve) sangat rendah karena UI/UX AIMON meniru aplikasi yang sudah familiar (misal: antarmuka chat mirip WhatsApp).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07 - Sustainability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 err="1"/>
              <a:t>Infrastruktur</a:t>
            </a:r>
            <a:r>
              <a:rPr sz="2400" dirty="0"/>
              <a:t> </a:t>
            </a:r>
            <a:r>
              <a:rPr sz="2400" dirty="0" err="1"/>
              <a:t>Terpusat</a:t>
            </a:r>
            <a:r>
              <a:rPr sz="2400" dirty="0"/>
              <a:t>: </a:t>
            </a:r>
            <a:r>
              <a:rPr sz="2400" dirty="0" err="1"/>
              <a:t>Seluruh</a:t>
            </a:r>
            <a:r>
              <a:rPr sz="2400" dirty="0"/>
              <a:t> </a:t>
            </a:r>
            <a:r>
              <a:rPr sz="2400" dirty="0" err="1"/>
              <a:t>sistem</a:t>
            </a:r>
            <a:r>
              <a:rPr sz="2400" dirty="0"/>
              <a:t> (Frontend dan Backend) </a:t>
            </a:r>
            <a:r>
              <a:rPr sz="2400" dirty="0" err="1"/>
              <a:t>akan</a:t>
            </a:r>
            <a:r>
              <a:rPr sz="2400" dirty="0"/>
              <a:t> di-deploy </a:t>
            </a:r>
            <a:r>
              <a:rPr sz="2400" dirty="0" err="1"/>
              <a:t>ke</a:t>
            </a:r>
            <a:r>
              <a:rPr sz="2400" dirty="0"/>
              <a:t> Server/</a:t>
            </a:r>
            <a:r>
              <a:rPr sz="2400" dirty="0" err="1"/>
              <a:t>Komputer</a:t>
            </a:r>
            <a:r>
              <a:rPr sz="2400" dirty="0"/>
              <a:t> Kantor yang </a:t>
            </a:r>
            <a:r>
              <a:rPr sz="2400" dirty="0" err="1"/>
              <a:t>menyala</a:t>
            </a:r>
            <a:r>
              <a:rPr sz="2400" dirty="0"/>
              <a:t> 24 jam </a:t>
            </a:r>
            <a:r>
              <a:rPr sz="2400" dirty="0" err="1"/>
              <a:t>penuh</a:t>
            </a:r>
            <a:r>
              <a:rPr sz="2400" dirty="0"/>
              <a:t>.</a:t>
            </a:r>
          </a:p>
          <a:p>
            <a:r>
              <a:rPr sz="2400" dirty="0" err="1"/>
              <a:t>Aksesibilitas</a:t>
            </a:r>
            <a:r>
              <a:rPr sz="2400" dirty="0"/>
              <a:t> 24/7: </a:t>
            </a:r>
            <a:r>
              <a:rPr sz="2400" dirty="0" err="1"/>
              <a:t>Dapat</a:t>
            </a:r>
            <a:r>
              <a:rPr sz="2400" dirty="0"/>
              <a:t> </a:t>
            </a:r>
            <a:r>
              <a:rPr sz="2400" dirty="0" err="1"/>
              <a:t>diakses</a:t>
            </a:r>
            <a:r>
              <a:rPr sz="2400" dirty="0"/>
              <a:t> oleh </a:t>
            </a:r>
            <a:r>
              <a:rPr sz="2400" dirty="0" err="1"/>
              <a:t>staf</a:t>
            </a:r>
            <a:r>
              <a:rPr sz="2400" dirty="0"/>
              <a:t> </a:t>
            </a:r>
            <a:r>
              <a:rPr sz="2400" dirty="0" err="1"/>
              <a:t>manapun</a:t>
            </a:r>
            <a:r>
              <a:rPr sz="2400" dirty="0"/>
              <a:t> </a:t>
            </a:r>
            <a:r>
              <a:rPr sz="2400" dirty="0" err="1"/>
              <a:t>dalam</a:t>
            </a:r>
            <a:r>
              <a:rPr sz="2400" dirty="0"/>
              <a:t> </a:t>
            </a:r>
            <a:r>
              <a:rPr sz="2400" dirty="0" err="1"/>
              <a:t>jaringan</a:t>
            </a:r>
            <a:r>
              <a:rPr sz="2400" dirty="0"/>
              <a:t> </a:t>
            </a:r>
            <a:r>
              <a:rPr sz="2400" dirty="0" err="1"/>
              <a:t>menggunakan</a:t>
            </a:r>
            <a:r>
              <a:rPr sz="2400" dirty="0"/>
              <a:t> IP address server, </a:t>
            </a:r>
            <a:r>
              <a:rPr sz="2400" dirty="0" err="1"/>
              <a:t>memastikan</a:t>
            </a:r>
            <a:r>
              <a:rPr sz="2400" dirty="0"/>
              <a:t> </a:t>
            </a:r>
            <a:r>
              <a:rPr sz="2400" dirty="0" err="1"/>
              <a:t>kontinuitas</a:t>
            </a:r>
            <a:r>
              <a:rPr sz="2400" dirty="0"/>
              <a:t> </a:t>
            </a:r>
            <a:r>
              <a:rPr sz="2400" dirty="0" err="1"/>
              <a:t>pemantauan</a:t>
            </a:r>
            <a:r>
              <a:rPr sz="2400" dirty="0"/>
              <a:t>.</a:t>
            </a:r>
          </a:p>
          <a:p>
            <a:r>
              <a:rPr sz="2400" dirty="0" err="1"/>
              <a:t>Standardisasi</a:t>
            </a:r>
            <a:r>
              <a:rPr sz="2400" dirty="0"/>
              <a:t> SOP: </a:t>
            </a:r>
            <a:r>
              <a:rPr sz="2400" dirty="0" err="1"/>
              <a:t>Sistem</a:t>
            </a:r>
            <a:r>
              <a:rPr sz="2400" dirty="0"/>
              <a:t> </a:t>
            </a:r>
            <a:r>
              <a:rPr sz="2400" dirty="0" err="1"/>
              <a:t>ini</a:t>
            </a:r>
            <a:r>
              <a:rPr sz="2400" dirty="0"/>
              <a:t> </a:t>
            </a:r>
            <a:r>
              <a:rPr sz="2400" dirty="0" err="1"/>
              <a:t>menciptakan</a:t>
            </a:r>
            <a:r>
              <a:rPr sz="2400" dirty="0"/>
              <a:t> SOP </a:t>
            </a:r>
            <a:r>
              <a:rPr sz="2400" dirty="0" err="1"/>
              <a:t>baru</a:t>
            </a:r>
            <a:r>
              <a:rPr sz="2400" dirty="0"/>
              <a:t> </a:t>
            </a:r>
            <a:r>
              <a:rPr sz="2400" dirty="0" err="1"/>
              <a:t>secara</a:t>
            </a:r>
            <a:r>
              <a:rPr sz="2400" dirty="0"/>
              <a:t> </a:t>
            </a:r>
            <a:r>
              <a:rPr sz="2400" dirty="0" err="1"/>
              <a:t>teknis</a:t>
            </a:r>
            <a:r>
              <a:rPr sz="2400" dirty="0"/>
              <a:t> (by-design), di mana </a:t>
            </a:r>
            <a:r>
              <a:rPr sz="2400" dirty="0" err="1"/>
              <a:t>sistem</a:t>
            </a:r>
            <a:r>
              <a:rPr sz="2400" dirty="0"/>
              <a:t> </a:t>
            </a:r>
            <a:r>
              <a:rPr sz="2400" dirty="0" err="1"/>
              <a:t>akan</a:t>
            </a:r>
            <a:r>
              <a:rPr sz="2400" dirty="0"/>
              <a:t> </a:t>
            </a:r>
            <a:r>
              <a:rPr sz="2400" dirty="0" err="1"/>
              <a:t>menolak</a:t>
            </a:r>
            <a:r>
              <a:rPr sz="2400" dirty="0"/>
              <a:t> update </a:t>
            </a:r>
            <a:r>
              <a:rPr sz="2400" dirty="0" err="1"/>
              <a:t>jika</a:t>
            </a:r>
            <a:r>
              <a:rPr sz="2400" dirty="0"/>
              <a:t> </a:t>
            </a:r>
            <a:r>
              <a:rPr sz="2400" dirty="0" err="1"/>
              <a:t>bukti</a:t>
            </a:r>
            <a:r>
              <a:rPr sz="2400" dirty="0"/>
              <a:t> </a:t>
            </a:r>
            <a:r>
              <a:rPr sz="2400" dirty="0" err="1"/>
              <a:t>tidak</a:t>
            </a:r>
            <a:r>
              <a:rPr sz="2400" dirty="0"/>
              <a:t> </a:t>
            </a:r>
            <a:r>
              <a:rPr sz="2400" dirty="0" err="1"/>
              <a:t>lengkap</a:t>
            </a:r>
            <a:r>
              <a:rPr sz="2400"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08 - Lesson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000" dirty="0" err="1"/>
              <a:t>Tantangan</a:t>
            </a:r>
            <a:r>
              <a:rPr sz="2000" dirty="0"/>
              <a:t> Utama: </a:t>
            </a:r>
            <a:r>
              <a:rPr sz="2000" dirty="0" err="1"/>
              <a:t>Mengembangkan</a:t>
            </a:r>
            <a:r>
              <a:rPr sz="2000" dirty="0"/>
              <a:t> </a:t>
            </a:r>
            <a:r>
              <a:rPr sz="2000" dirty="0" err="1"/>
              <a:t>aplikasi</a:t>
            </a:r>
            <a:r>
              <a:rPr sz="2000" dirty="0"/>
              <a:t> yang </a:t>
            </a:r>
            <a:r>
              <a:rPr sz="2000" dirty="0" err="1"/>
              <a:t>harus</a:t>
            </a:r>
            <a:r>
              <a:rPr sz="2000" dirty="0"/>
              <a:t> </a:t>
            </a:r>
            <a:r>
              <a:rPr sz="2000" dirty="0" err="1"/>
              <a:t>menjembatani</a:t>
            </a:r>
            <a:r>
              <a:rPr sz="2000" dirty="0"/>
              <a:t> </a:t>
            </a:r>
            <a:r>
              <a:rPr sz="2000" dirty="0" err="1"/>
              <a:t>kebutuhan</a:t>
            </a:r>
            <a:r>
              <a:rPr sz="2000" dirty="0"/>
              <a:t> Top Management (data </a:t>
            </a:r>
            <a:r>
              <a:rPr sz="2000" dirty="0" err="1"/>
              <a:t>agregat</a:t>
            </a:r>
            <a:r>
              <a:rPr sz="2000" dirty="0"/>
              <a:t>) dan level </a:t>
            </a:r>
            <a:r>
              <a:rPr sz="2000" dirty="0" err="1"/>
              <a:t>staf</a:t>
            </a:r>
            <a:r>
              <a:rPr sz="2000" dirty="0"/>
              <a:t> </a:t>
            </a:r>
            <a:r>
              <a:rPr sz="2000" dirty="0" err="1"/>
              <a:t>operasional</a:t>
            </a:r>
            <a:r>
              <a:rPr sz="2000" dirty="0"/>
              <a:t> (data detail dan </a:t>
            </a:r>
            <a:r>
              <a:rPr sz="2000" dirty="0" err="1"/>
              <a:t>alat</a:t>
            </a:r>
            <a:r>
              <a:rPr sz="2000" dirty="0"/>
              <a:t> </a:t>
            </a:r>
            <a:r>
              <a:rPr sz="2000" dirty="0" err="1"/>
              <a:t>komunikasi</a:t>
            </a:r>
            <a:r>
              <a:rPr sz="2000" dirty="0"/>
              <a:t>).</a:t>
            </a:r>
          </a:p>
          <a:p>
            <a:r>
              <a:rPr sz="2000" dirty="0" err="1"/>
              <a:t>Pembelajaran</a:t>
            </a:r>
            <a:r>
              <a:rPr sz="2000" dirty="0"/>
              <a:t> </a:t>
            </a:r>
            <a:r>
              <a:rPr sz="2000" dirty="0" err="1"/>
              <a:t>Penting</a:t>
            </a:r>
            <a:r>
              <a:rPr sz="2000" dirty="0"/>
              <a:t>: Proses </a:t>
            </a:r>
            <a:r>
              <a:rPr sz="2000" dirty="0" err="1"/>
              <a:t>pengembangan</a:t>
            </a:r>
            <a:r>
              <a:rPr sz="2000" dirty="0"/>
              <a:t> yang </a:t>
            </a:r>
            <a:r>
              <a:rPr sz="2000" dirty="0" err="1"/>
              <a:t>iteratif</a:t>
            </a:r>
            <a:r>
              <a:rPr sz="2000" dirty="0"/>
              <a:t> (</a:t>
            </a:r>
            <a:r>
              <a:rPr sz="2000" dirty="0" err="1"/>
              <a:t>berubah-ubah</a:t>
            </a:r>
            <a:r>
              <a:rPr sz="2000" dirty="0"/>
              <a:t> </a:t>
            </a:r>
            <a:r>
              <a:rPr sz="2000" dirty="0" err="1"/>
              <a:t>sesuai</a:t>
            </a:r>
            <a:r>
              <a:rPr sz="2000" dirty="0"/>
              <a:t> </a:t>
            </a:r>
            <a:r>
              <a:rPr sz="2000" dirty="0" err="1"/>
              <a:t>masukan</a:t>
            </a:r>
            <a:r>
              <a:rPr sz="2000" dirty="0"/>
              <a:t>) </a:t>
            </a:r>
            <a:r>
              <a:rPr sz="2000" dirty="0" err="1"/>
              <a:t>membuktikan</a:t>
            </a:r>
            <a:r>
              <a:rPr sz="2000" dirty="0"/>
              <a:t> </a:t>
            </a:r>
            <a:r>
              <a:rPr sz="2000" dirty="0" err="1"/>
              <a:t>bahwa</a:t>
            </a:r>
            <a:r>
              <a:rPr sz="2000" dirty="0"/>
              <a:t> 'User Experience' </a:t>
            </a:r>
            <a:r>
              <a:rPr sz="2000" dirty="0" err="1"/>
              <a:t>adalah</a:t>
            </a:r>
            <a:r>
              <a:rPr sz="2000" dirty="0"/>
              <a:t> </a:t>
            </a:r>
            <a:r>
              <a:rPr sz="2000" dirty="0" err="1"/>
              <a:t>segalanya</a:t>
            </a:r>
            <a:r>
              <a:rPr sz="2000" dirty="0"/>
              <a:t>.</a:t>
            </a:r>
          </a:p>
          <a:p>
            <a:r>
              <a:rPr sz="2000" dirty="0"/>
              <a:t>Fitur-</a:t>
            </a:r>
            <a:r>
              <a:rPr sz="2000" dirty="0" err="1"/>
              <a:t>fitur</a:t>
            </a:r>
            <a:r>
              <a:rPr sz="2000" dirty="0"/>
              <a:t> detail (</a:t>
            </a:r>
            <a:r>
              <a:rPr sz="2000" dirty="0" err="1"/>
              <a:t>seperti</a:t>
            </a:r>
            <a:r>
              <a:rPr sz="2000" dirty="0"/>
              <a:t> badge chat, pop-up </a:t>
            </a:r>
            <a:r>
              <a:rPr sz="2000" dirty="0" err="1"/>
              <a:t>tolak</a:t>
            </a:r>
            <a:r>
              <a:rPr sz="2000" dirty="0"/>
              <a:t> </a:t>
            </a:r>
            <a:r>
              <a:rPr sz="2000" dirty="0" err="1"/>
              <a:t>elegan</a:t>
            </a:r>
            <a:r>
              <a:rPr sz="2000" dirty="0"/>
              <a:t>, </a:t>
            </a:r>
            <a:r>
              <a:rPr sz="2000" dirty="0" err="1"/>
              <a:t>inisial</a:t>
            </a:r>
            <a:r>
              <a:rPr sz="2000" dirty="0"/>
              <a:t> </a:t>
            </a:r>
            <a:r>
              <a:rPr sz="2000" dirty="0" err="1"/>
              <a:t>profil</a:t>
            </a:r>
            <a:r>
              <a:rPr sz="2000" dirty="0"/>
              <a:t>) </a:t>
            </a:r>
            <a:r>
              <a:rPr sz="2000" dirty="0" err="1"/>
              <a:t>adalah</a:t>
            </a:r>
            <a:r>
              <a:rPr sz="2000" dirty="0"/>
              <a:t> </a:t>
            </a:r>
            <a:r>
              <a:rPr sz="2000" dirty="0" err="1"/>
              <a:t>kunci</a:t>
            </a:r>
            <a:r>
              <a:rPr sz="2000" dirty="0"/>
              <a:t> yang </a:t>
            </a:r>
            <a:r>
              <a:rPr sz="2000" dirty="0" err="1"/>
              <a:t>membuat</a:t>
            </a:r>
            <a:r>
              <a:rPr sz="2000" dirty="0"/>
              <a:t> user </a:t>
            </a:r>
            <a:r>
              <a:rPr sz="2000" dirty="0" err="1"/>
              <a:t>mau</a:t>
            </a:r>
            <a:r>
              <a:rPr sz="2000" dirty="0"/>
              <a:t> </a:t>
            </a:r>
            <a:r>
              <a:rPr sz="2000" dirty="0" err="1"/>
              <a:t>meninggalkan</a:t>
            </a:r>
            <a:r>
              <a:rPr sz="2000" dirty="0"/>
              <a:t> </a:t>
            </a:r>
            <a:r>
              <a:rPr sz="2000" dirty="0" err="1"/>
              <a:t>cara</a:t>
            </a:r>
            <a:r>
              <a:rPr sz="2000" dirty="0"/>
              <a:t> manual.</a:t>
            </a:r>
          </a:p>
          <a:p>
            <a:r>
              <a:rPr sz="2000" dirty="0"/>
              <a:t>Kesimpulan: AIMON </a:t>
            </a:r>
            <a:r>
              <a:rPr sz="2000" dirty="0" err="1"/>
              <a:t>berhasil</a:t>
            </a:r>
            <a:r>
              <a:rPr sz="2000" dirty="0"/>
              <a:t> </a:t>
            </a:r>
            <a:r>
              <a:rPr sz="2000" dirty="0" err="1"/>
              <a:t>mentransformasi</a:t>
            </a:r>
            <a:r>
              <a:rPr sz="2000" dirty="0"/>
              <a:t> tata </a:t>
            </a:r>
            <a:r>
              <a:rPr sz="2000" dirty="0" err="1"/>
              <a:t>kelola</a:t>
            </a:r>
            <a:r>
              <a:rPr sz="2000" dirty="0"/>
              <a:t> </a:t>
            </a:r>
            <a:r>
              <a:rPr sz="2000" dirty="0" err="1"/>
              <a:t>proyek</a:t>
            </a:r>
            <a:r>
              <a:rPr sz="2000" dirty="0"/>
              <a:t> </a:t>
            </a:r>
            <a:r>
              <a:rPr sz="2000" dirty="0" err="1"/>
              <a:t>menjadi</a:t>
            </a:r>
            <a:r>
              <a:rPr sz="2000" dirty="0"/>
              <a:t> </a:t>
            </a:r>
            <a:r>
              <a:rPr sz="2000" dirty="0" err="1"/>
              <a:t>budaya</a:t>
            </a:r>
            <a:r>
              <a:rPr sz="2000" dirty="0"/>
              <a:t> </a:t>
            </a:r>
            <a:r>
              <a:rPr sz="2000" dirty="0" err="1"/>
              <a:t>kerja</a:t>
            </a:r>
            <a:r>
              <a:rPr sz="2000" dirty="0"/>
              <a:t> yang modern, </a:t>
            </a:r>
            <a:r>
              <a:rPr sz="2000" dirty="0" err="1"/>
              <a:t>transparan</a:t>
            </a:r>
            <a:r>
              <a:rPr sz="2000" dirty="0"/>
              <a:t>, dan </a:t>
            </a:r>
            <a:r>
              <a:rPr sz="2000" dirty="0" err="1"/>
              <a:t>berbasis</a:t>
            </a:r>
            <a:r>
              <a:rPr sz="2000" dirty="0"/>
              <a:t> data real-time.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918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Optimasi System Monitoring Project Menggunakan AI untuk Memudahkan Evaluasi dan Meningkatkan Kinerja</vt:lpstr>
      <vt:lpstr>01 - Latar Belakang</vt:lpstr>
      <vt:lpstr>02 - Masalah</vt:lpstr>
      <vt:lpstr>03 - Analisis Penyebab</vt:lpstr>
      <vt:lpstr>04 - Solusi: Iterasi 1 (Fondasi Dashboard &amp; Approval)</vt:lpstr>
      <vt:lpstr>04 - Solusi: Iterasi 2 (Integrasi Database &amp; Cloud)</vt:lpstr>
      <vt:lpstr>04 - Solusi: Iterasi 3 (File Management Terpusat)</vt:lpstr>
      <vt:lpstr>04 - Solusi: Iterasi 4 (Sistem Komunikasi Real-time)</vt:lpstr>
      <vt:lpstr>05 - Implementasi</vt:lpstr>
      <vt:lpstr>06 - Dampak (Impact)</vt:lpstr>
      <vt:lpstr>07 - Sustainability</vt:lpstr>
      <vt:lpstr>08 - Lesson Learned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 Vina Nur Fatimah</cp:lastModifiedBy>
  <cp:revision>2</cp:revision>
  <dcterms:created xsi:type="dcterms:W3CDTF">2013-01-27T09:14:16Z</dcterms:created>
  <dcterms:modified xsi:type="dcterms:W3CDTF">2026-08-20T10:07:01Z</dcterms:modified>
  <cp:category/>
</cp:coreProperties>
</file>