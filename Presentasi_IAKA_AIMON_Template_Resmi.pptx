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52C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563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FFFFFF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PERURI • INNOVATION AWARD &amp; KAIZEN AWARD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Arial"/>
              </a:defRPr>
            </a:pPr>
            <a:r>
              <a:t>Optimasi System Monitoring Project</a:t>
            </a:r>
            <a:br/>
            <a:r>
              <a:t>Menggunakan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Dept. Research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731520" cy="73152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7187E"/>
                </a:solidFill>
                <a:latin typeface="Arial"/>
              </a:defRPr>
            </a:pPr>
            <a:r>
              <a:t>Alur 8 bagian presentasi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Latar Belakang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5603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27432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Masalah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Analisis Penyebab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5603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0" y="27432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Solusi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5720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Implementasi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3891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57600" y="45720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212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Dampak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3891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0" y="45720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212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Sustainability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438912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4572000"/>
            <a:ext cx="457200" cy="45720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212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187E"/>
                </a:solidFill>
                <a:latin typeface="Arial"/>
              </a:defRPr>
            </a:pPr>
            <a:r>
              <a:t>Lesson Learned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Latar Belakang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1">
                <a:solidFill>
                  <a:srgbClr val="752BBE"/>
                </a:solidFill>
                <a:latin typeface="Arial"/>
              </a:defRPr>
            </a:pPr>
            <a:r>
              <a:t>Tujuan bagian ini: Bangun konteks: mengapa topik ini penting untuk ditangani sekarang.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384048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52BBE"/>
                </a:solidFill>
                <a:latin typeface="Arial"/>
              </a:defRPr>
            </a:pPr>
            <a:r>
              <a:t>Yang harus disampaikan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4B5563"/>
                </a:solidFill>
                <a:latin typeface="Arial"/>
              </a:defRPr>
            </a:pPr>
            <a:r>
              <a:t>Data diambil dari sistem AIMON · IAKA 2026 — Kerangka Presentasi Peserta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Kondisi Saat Ini: Departemen R&amp;D memantau 9 proyek aktif (total capaian 39,49%) secara manual menggunakan 9 file Excel terpisah (masing-masing 5 sheet &amp; 30+ aktivitas).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Mengapa Penting: 9 proyek ini bersifat strategis (OMTI &amp; Non-OMTI). Keterlambatan di satu fase bisa menggagalkan keseluruhan timeline proyek inovasi Peruri.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Keluhan Memicu: Kepala Divisi kesulitan memantau progress secara langsung dan harus bertanya manual, menyebabkan delay dalam pengambilan keputusan strategis.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Data Awal: Estimasi waktu rekap manual mencapai ~4,5–6,5 jam/minggu hanya untuk copy-paste nilai &amp; cek formula SUMPRODUCT Kurva-S.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Masalah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1">
                <a:solidFill>
                  <a:srgbClr val="752BBE"/>
                </a:solidFill>
                <a:latin typeface="Arial"/>
              </a:defRPr>
            </a:pPr>
            <a:r>
              <a:t>Tujuan bagian ini: Nyatakan masalah operasional nyata dan terukur — bukan keluhan umum.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384048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4B5563"/>
                </a:solidFill>
                <a:latin typeface="Arial"/>
              </a:defRPr>
            </a:pPr>
            <a:r>
              <a:t>Data diambil dari sistem AIMON · IAKA 2026 — Kerangka Presentasi Peserta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52BBE"/>
                </a:solidFill>
                <a:latin typeface="Arial"/>
              </a:defRPr>
            </a:pPr>
            <a:r>
              <a:t>Pernyataan Masalah Utama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280" y="3108960"/>
          <a:ext cx="100584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657600"/>
              </a:tblGrid>
              <a:tr h="274319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Masalah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 (Data / Estimasi)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Dampak jika dibiarkan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Kadiv tidak bisa pantau langsung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Keluhan nyata dari Kadiv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Keputusan manajemen berbasis data usang (delay 1-2 minggu)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9 file Excel (45 sheet) dikelola manual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9 proyek = ratusan sel update/bln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Rentan human error (salah formula SUMPRODUCT)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Waktu rekap memakan waktu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~4,5–6,5 jam per minggu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Jam kerja PIC/Kasi terbuang untuk administrasi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Tidak ada sinkronisasi (real-time)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1-3 hari waktu approval (via WA)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Approval bottleneck, progress terhambat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Tidak ada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0 (riwayat tidak terekam)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Sulit melacak siapa/kapan perubahan data dilakukan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Analisis Penyebab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1">
                <a:solidFill>
                  <a:srgbClr val="752BBE"/>
                </a:solidFill>
                <a:latin typeface="Arial"/>
              </a:defRPr>
            </a:pPr>
            <a:r>
              <a:t>Tujuan bagian ini: Tunjukkan akar masalah, bukan sekadar gejalanya.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384048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52BBE"/>
                </a:solidFill>
                <a:latin typeface="Arial"/>
              </a:defRPr>
            </a:pPr>
            <a:r>
              <a:t>Yang harus disampaikan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4B5563"/>
                </a:solidFill>
                <a:latin typeface="Arial"/>
              </a:defRPr>
            </a:pPr>
            <a:r>
              <a:t>Data diambil dari sistem AIMON · IAKA 2026 — Kerangka Presentasi Peserta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Gejala: Monitoring lambat &amp; data sering tidak sinkron antar atasan-bawahan.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Why 1: Karena data tersebar di 9 file Excel individual milik masing-masing PIC.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Why 2: Karena tidak ada sistem terpusat (single source of truth).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Why 3: Karena departemen belum memiliki platform digital monitoring yang terintegrasi.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Why 4: Solusi komersial (MS Project/Jira) mahal &amp; tidak fit dengan kebutuhan R&amp;D Peruri.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Why 5: Asumsi bahwa membangun sistem internal butuh resource besar &amp; lama.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7187E"/>
                </a:solidFill>
                <a:latin typeface="Arial"/>
              </a:defRPr>
            </a:pPr>
            <a:r>
              <a:t>Akar Masalah: Tidak adanya platform monitoring proyek digital terpusat yang dirancang khusus sesuai kebutuhan (OMTI, Kurva-S, RAG).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Solusi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1">
                <a:solidFill>
                  <a:srgbClr val="752BBE"/>
                </a:solidFill>
                <a:latin typeface="Arial"/>
              </a:defRPr>
            </a:pPr>
            <a:r>
              <a:t>Tujuan bagian ini: Jelaskan solusi yang logis dan cukup sederhana untuk diuji skala kecil.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384048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52BBE"/>
                </a:solidFill>
                <a:latin typeface="Arial"/>
              </a:defRPr>
            </a:pPr>
            <a:r>
              <a:t>Yang harus disampaikan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4B5563"/>
                </a:solidFill>
                <a:latin typeface="Arial"/>
              </a:defRPr>
            </a:pPr>
            <a:r>
              <a:t>Data diambil dari sistem AIMON · IAKA 2026 — Kerangka Presentasi Peserta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Konsep: Membangun AIMON (AI Monitoring for Optimization and Navigation) — platform web terpusat dengan database cloud PostgreSQL.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Mekanisme: PIC submit progress → Atasan terima notif real-time (Socket.io) → Approve → Kurva-S &amp; RAG indicator 🔴🟡🟢 update otomatis.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Nilai Tambah (Kebaruan): Integrasi fitur In-App Chat Real-time &amp; Optimistic UI (seperti WhatsApp) + dikembangkan super cepat menggunakan AI (AI-Assisted Development).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Target Perbaikan: Memangkas waktu kompilasi dari ~6 jam/minggu menjadi 0 jam (otomatis), deteksi deviasi dari 2 minggu menjadi 0 hari (real-time).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Implementasi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1">
                <a:solidFill>
                  <a:srgbClr val="752BBE"/>
                </a:solidFill>
                <a:latin typeface="Arial"/>
              </a:defRPr>
            </a:pPr>
            <a:r>
              <a:t>Tujuan bagian ini: Buktikan solusi benar-benar dijalankan dan hasilnya terukur (uji coba/MVP).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384048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4B5563"/>
                </a:solidFill>
                <a:latin typeface="Arial"/>
              </a:defRPr>
            </a:pPr>
            <a:r>
              <a:t>Data diambil dari sistem AIMON · IAKA 2026 — Kerangka Presentasi Peserta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52BBE"/>
                </a:solidFill>
                <a:latin typeface="Arial"/>
              </a:defRPr>
            </a:pPr>
            <a:r>
              <a:t>Status Implementasi (Live &amp; Teruji)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280" y="3108960"/>
          <a:ext cx="100584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5486400"/>
              </a:tblGrid>
              <a:tr h="274319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Fitur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752BB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Database &amp; Autentikasi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12 tabel relasional, JWT + bcrypt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Dashboard &amp; Kurva-S (Chart.js)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Auto-render 9 proyek OMTI/PM riil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Approval Queue Digital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Submit → Approve/Reject + lampiran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Chat Real-time (Socket.io)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Optimistic UI, tersimpan di database</a:t>
                      </a:r>
                    </a:p>
                  </a:txBody>
                  <a:tcPr>
                    <a:solidFill>
                      <a:srgbClr val="E6E1F0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4B5563"/>
                          </a:solidFill>
                          <a:latin typeface="Arial"/>
                        </a:defRPr>
                      </a:pPr>
                      <a:r>
                        <a:t>Cloudflare Tunnel (Akses dari internet)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9728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4B5563"/>
                </a:solidFill>
                <a:latin typeface="Arial"/>
              </a:defRPr>
            </a:pPr>
            <a:r>
              <a:t>Kendala: Awalnya chat tidak sinkron (localStorage). Mitigasi: Migrasi penuh ke database PostgreSQL + Optimistic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Dampak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1">
                <a:solidFill>
                  <a:srgbClr val="752BBE"/>
                </a:solidFill>
                <a:latin typeface="Arial"/>
              </a:defRPr>
            </a:pPr>
            <a:r>
              <a:t>Tujuan bagian ini: Sajikan dampak yang sudah tervalidasi — finansial dan non-finansial.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384048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52BBE"/>
                </a:solidFill>
                <a:latin typeface="Arial"/>
              </a:defRPr>
            </a:pPr>
            <a:r>
              <a:t>Yang harus disampaikan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4B5563"/>
                </a:solidFill>
                <a:latin typeface="Arial"/>
              </a:defRPr>
            </a:pPr>
            <a:r>
              <a:t>Data diambil dari sistem AIMON · IAKA 2026 — Kerangka Presentasi Peserta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Finansial (Cost Saving Waktu): Hemat waktu kompilasi admin 312 jam/tahun setara dengan ~Rp15.600.000/tahun (estimasi).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Finansial (Biaya Dev): Biaya Rp0 (open source, Supabase free tier, Cloudflare Tunnel). Payback period instan (&lt; 1 bulan).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Non-Finansial (Mutu): Kualitas keputusan Kadiv/Kadept meningkat karena berbasis data real-time, bukan data usia 1-2 minggu.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Kepatuhan &amp; Audit: Seluruh riwayat perubahan data dan approval terekam jelas di database (siapa, kapan, nilai lama → baru).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Potensi Replikasi: Arsitektur modular sangat mudah direplikasi untuk unit kerja lain di Peruri dalam waktu singkat (1-2 minggu setup).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Sustainability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1">
                <a:solidFill>
                  <a:srgbClr val="752BBE"/>
                </a:solidFill>
                <a:latin typeface="Arial"/>
              </a:defRPr>
            </a:pPr>
            <a:r>
              <a:t>Tujuan bagian ini: Kunci cara kerja baru agar tidak bergantung pada ingatan atau satu orang.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384048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52BBE"/>
                </a:solidFill>
                <a:latin typeface="Arial"/>
              </a:defRPr>
            </a:pPr>
            <a:r>
              <a:t>Yang harus disampaikan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4B5563"/>
                </a:solidFill>
                <a:latin typeface="Arial"/>
              </a:defRPr>
            </a:pPr>
            <a:r>
              <a:t>Data diambil dari sistem AIMON · IAKA 2026 — Kerangka Presentasi Peserta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27187E"/>
                </a:solidFill>
                <a:latin typeface="Arial"/>
              </a:defRPr>
            </a:pPr>
            <a:r>
              <a:t>SOP Baru yang Diusulkan: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SOP Pengoperasian AIMON (Login, navigasi dashboard, interpretasi Kurva-S &amp; RAG).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IK Input Progress Proyek (Update aktivitas, upload dokumen, submit).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IK Review &amp; Approval (Validasi oleh Kepala Seksi/Unit).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27187E"/>
                </a:solidFill>
                <a:latin typeface="Arial"/>
              </a:defRPr>
            </a:pPr>
            <a:r>
              <a:t>Transfer Knowledge: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Pelatihan berjenjang: Workshop (PIC), Live Demo (Kasi/Kadiv), dan Walkthrough teknis (Tim IT).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Tidak bergantung pada 1 orang karena menggunakan tech stack modern standard industri (Node.js, PostgreSQL).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187E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27187E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27187E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rgbClr val="752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7187E"/>
                </a:solidFill>
                <a:latin typeface="Arial"/>
              </a:defRPr>
            </a:pPr>
            <a:r>
              <a:t>Lesson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1">
                <a:solidFill>
                  <a:srgbClr val="752BBE"/>
                </a:solidFill>
                <a:latin typeface="Arial"/>
              </a:defRPr>
            </a:pPr>
            <a:r>
              <a:t>Tujuan bagian ini: Bagikan pembelajaran agar inovasi/kaizen dapat direplikasi unit lain.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3840480"/>
          </a:xfrm>
          <a:prstGeom prst="roundRect">
            <a:avLst>
              <a:gd name="adj" fmla="val 5000"/>
            </a:avLst>
          </a:prstGeom>
          <a:solidFill>
            <a:srgbClr val="F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52BBE"/>
                </a:solidFill>
                <a:latin typeface="Arial"/>
              </a:defRPr>
            </a:pPr>
            <a:r>
              <a:t>Yang harus disampaikan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4B5563"/>
                </a:solidFill>
                <a:latin typeface="Arial"/>
              </a:defRPr>
            </a:pPr>
            <a:r>
              <a:t>Data diambil dari sistem AIMON · IAKA 2026 — Kerangka Presentasi Peserta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7187E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AI adalah Akselerator, bukan Pengganti: Sistem kompleks yang normalnya butuh waktu berbulan-bulan bisa dibangun dalam hitungan minggu menggunakan AI-Assisted Development.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Start simple, iterate fast: Pengembangan AIMON membuktikan bahwa memulai dari prototype sederhana dan mengembangkannya secara iteratif (Agile) sangat efektif.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Real-time matters: Pengalaman pengguna dengan event real-time (Socket.io) jauh melebihi aplikasi web polling tradisional.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5563"/>
                </a:solidFill>
                <a:latin typeface="Arial"/>
              </a:defRPr>
            </a:pPr>
            <a:r>
              <a:t>Rekomendasi Lanjutan: Mengembangkan AI Predictive Analytics menggunakan data histori proyek untuk memprediksi risiko keterlambatan sebelum terjadi.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27187E"/>
                </a:solidFill>
                <a:latin typeface="Arial"/>
              </a:defRPr>
            </a:pPr>
            <a:r>
              <a:t>Kesimpulan: Kombinasi budaya kaizen Peruri dan teknologi AI mampu menghasilkan disrupsi positif dengan biaya Rp0.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52C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563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Arial"/>
              </a:defRPr>
            </a:pPr>
            <a:r>
              <a:t>PERURI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IAKA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FFFFFF"/>
                </a:solidFill>
                <a:latin typeface="Arial"/>
              </a:defRPr>
            </a:pPr>
            <a:r>
              <a:t>INNOVATION &amp; KAIZEN AWARD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Arial"/>
              </a:defRPr>
            </a:pPr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