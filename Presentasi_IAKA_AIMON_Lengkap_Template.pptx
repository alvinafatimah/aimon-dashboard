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52C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563A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Arial"/>
              </a:defRPr>
            </a:pPr>
            <a:r>
              <a:t>PERURI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 i="0">
                <a:solidFill>
                  <a:srgbClr val="FFFFFF"/>
                </a:solidFill>
                <a:latin typeface="Arial"/>
              </a:defRPr>
            </a:pPr>
            <a:r>
              <a:t>IAKA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 i="0">
                <a:solidFill>
                  <a:srgbClr val="FFFFFF"/>
                </a:solidFill>
                <a:latin typeface="Arial"/>
              </a:defRPr>
            </a:pPr>
            <a:r>
              <a:t>INNOVATION &amp; KAIZEN AWARD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PERURI • INNOVATION AWARD &amp; KAIZEN AWARD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FFFFFF"/>
                </a:solidFill>
                <a:latin typeface="Arial"/>
              </a:defRPr>
            </a:pPr>
            <a:r>
              <a:t>Optimasi System Monitoring Project</a:t>
            </a:r>
            <a:br/>
            <a:r>
              <a:t>Menggunakan AI (AIMON)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29200"/>
            <a:ext cx="4114800" cy="548640"/>
          </a:xfrm>
          <a:prstGeom prst="roundRect">
            <a:avLst>
              <a:gd name="adj" fmla="val 50000"/>
            </a:avLst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Dept. Research Currency &amp; Security Printing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7187E"/>
                </a:solidFill>
                <a:latin typeface="Arial"/>
              </a:defRPr>
            </a:pPr>
            <a:r>
              <a:t>PERURI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 i="0">
                <a:solidFill>
                  <a:srgbClr val="27187E"/>
                </a:solidFill>
                <a:latin typeface="Arial"/>
              </a:defRPr>
            </a:pPr>
            <a:r>
              <a:t>IAKA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 i="0">
                <a:solidFill>
                  <a:srgbClr val="27187E"/>
                </a:solidFill>
                <a:latin typeface="Arial"/>
              </a:defRPr>
            </a:pPr>
            <a:r>
              <a:t>INNOVATION &amp; KAIZEN AWARD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097280"/>
            <a:ext cx="731520" cy="731520"/>
          </a:xfrm>
          <a:prstGeom prst="ellipse">
            <a:avLst/>
          </a:prstGeom>
          <a:solidFill>
            <a:srgbClr val="752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188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27187E"/>
                </a:solidFill>
                <a:latin typeface="Arial"/>
              </a:defRPr>
            </a:pPr>
            <a:r>
              <a:t>Alur 8 bagian presentasi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2468880" cy="1371600"/>
          </a:xfrm>
          <a:prstGeom prst="roundRect">
            <a:avLst>
              <a:gd name="adj" fmla="val 10000"/>
            </a:avLst>
          </a:prstGeom>
          <a:solidFill>
            <a:srgbClr val="F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743200"/>
            <a:ext cx="457200" cy="457200"/>
          </a:xfrm>
          <a:prstGeom prst="ellipse">
            <a:avLst/>
          </a:prstGeom>
          <a:solidFill>
            <a:srgbClr val="752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7187E"/>
                </a:solidFill>
                <a:latin typeface="Arial"/>
              </a:defRPr>
            </a:pPr>
            <a:r>
              <a:t>Latar Belakang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560320"/>
            <a:ext cx="2468880" cy="1371600"/>
          </a:xfrm>
          <a:prstGeom prst="roundRect">
            <a:avLst>
              <a:gd name="adj" fmla="val 10000"/>
            </a:avLst>
          </a:prstGeom>
          <a:solidFill>
            <a:srgbClr val="F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57600" y="2743200"/>
            <a:ext cx="457200" cy="457200"/>
          </a:xfrm>
          <a:prstGeom prst="ellipse">
            <a:avLst/>
          </a:prstGeom>
          <a:solidFill>
            <a:srgbClr val="752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383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7187E"/>
                </a:solidFill>
                <a:latin typeface="Arial"/>
              </a:defRPr>
            </a:pPr>
            <a:r>
              <a:t>Masalah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60320"/>
            <a:ext cx="2468880" cy="1371600"/>
          </a:xfrm>
          <a:prstGeom prst="roundRect">
            <a:avLst>
              <a:gd name="adj" fmla="val 10000"/>
            </a:avLst>
          </a:prstGeom>
          <a:solidFill>
            <a:srgbClr val="F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2743200"/>
            <a:ext cx="457200" cy="457200"/>
          </a:xfrm>
          <a:prstGeom prst="ellipse">
            <a:avLst/>
          </a:prstGeom>
          <a:solidFill>
            <a:srgbClr val="752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383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7187E"/>
                </a:solidFill>
                <a:latin typeface="Arial"/>
              </a:defRPr>
            </a:pPr>
            <a:r>
              <a:t>Analisis Penyebab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2560320"/>
            <a:ext cx="2468880" cy="1371600"/>
          </a:xfrm>
          <a:prstGeom prst="roundRect">
            <a:avLst>
              <a:gd name="adj" fmla="val 10000"/>
            </a:avLst>
          </a:prstGeom>
          <a:solidFill>
            <a:srgbClr val="F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0" y="2743200"/>
            <a:ext cx="457200" cy="457200"/>
          </a:xfrm>
          <a:prstGeom prst="ellipse">
            <a:avLst/>
          </a:prstGeom>
          <a:solidFill>
            <a:srgbClr val="752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383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7187E"/>
                </a:solidFill>
                <a:latin typeface="Arial"/>
              </a:defRPr>
            </a:pPr>
            <a:r>
              <a:t>Solusi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389120"/>
            <a:ext cx="2468880" cy="1371600"/>
          </a:xfrm>
          <a:prstGeom prst="roundRect">
            <a:avLst>
              <a:gd name="adj" fmla="val 10000"/>
            </a:avLst>
          </a:prstGeom>
          <a:solidFill>
            <a:srgbClr val="F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4572000"/>
            <a:ext cx="457200" cy="457200"/>
          </a:xfrm>
          <a:prstGeom prst="ellipse">
            <a:avLst/>
          </a:prstGeom>
          <a:solidFill>
            <a:srgbClr val="752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212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7187E"/>
                </a:solidFill>
                <a:latin typeface="Arial"/>
              </a:defRPr>
            </a:pPr>
            <a:r>
              <a:t>Implementasi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0" y="4389120"/>
            <a:ext cx="2468880" cy="1371600"/>
          </a:xfrm>
          <a:prstGeom prst="roundRect">
            <a:avLst>
              <a:gd name="adj" fmla="val 10000"/>
            </a:avLst>
          </a:prstGeom>
          <a:solidFill>
            <a:srgbClr val="F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57600" y="4572000"/>
            <a:ext cx="457200" cy="457200"/>
          </a:xfrm>
          <a:prstGeom prst="ellipse">
            <a:avLst/>
          </a:prstGeom>
          <a:solidFill>
            <a:srgbClr val="752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212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7187E"/>
                </a:solidFill>
                <a:latin typeface="Arial"/>
              </a:defRPr>
            </a:pPr>
            <a:r>
              <a:t>Dampak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389120"/>
            <a:ext cx="2468880" cy="1371600"/>
          </a:xfrm>
          <a:prstGeom prst="roundRect">
            <a:avLst>
              <a:gd name="adj" fmla="val 10000"/>
            </a:avLst>
          </a:prstGeom>
          <a:solidFill>
            <a:srgbClr val="F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0800" y="4572000"/>
            <a:ext cx="457200" cy="457200"/>
          </a:xfrm>
          <a:prstGeom prst="ellipse">
            <a:avLst/>
          </a:prstGeom>
          <a:solidFill>
            <a:srgbClr val="752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212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7187E"/>
                </a:solidFill>
                <a:latin typeface="Arial"/>
              </a:defRPr>
            </a:pPr>
            <a:r>
              <a:t>Sustainability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61120" y="4389120"/>
            <a:ext cx="2468880" cy="1371600"/>
          </a:xfrm>
          <a:prstGeom prst="roundRect">
            <a:avLst>
              <a:gd name="adj" fmla="val 10000"/>
            </a:avLst>
          </a:prstGeom>
          <a:solidFill>
            <a:srgbClr val="F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44000" y="4572000"/>
            <a:ext cx="457200" cy="457200"/>
          </a:xfrm>
          <a:prstGeom prst="ellipse">
            <a:avLst/>
          </a:prstGeom>
          <a:solidFill>
            <a:srgbClr val="752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5212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7187E"/>
                </a:solidFill>
                <a:latin typeface="Arial"/>
              </a:defRPr>
            </a:pPr>
            <a:r>
              <a:t>Lesson Learned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7187E"/>
                </a:solidFill>
                <a:latin typeface="Arial"/>
              </a:defRPr>
            </a:pPr>
            <a:r>
              <a:t>PERURI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 i="0">
                <a:solidFill>
                  <a:srgbClr val="27187E"/>
                </a:solidFill>
                <a:latin typeface="Arial"/>
              </a:defRPr>
            </a:pPr>
            <a:r>
              <a:t>IAKA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 i="0">
                <a:solidFill>
                  <a:srgbClr val="27187E"/>
                </a:solidFill>
                <a:latin typeface="Arial"/>
              </a:defRPr>
            </a:pPr>
            <a:r>
              <a:t>INNOVATION &amp; KAIZEN AWARD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005840"/>
            <a:ext cx="822960" cy="822960"/>
          </a:xfrm>
          <a:prstGeom prst="ellipse">
            <a:avLst/>
          </a:prstGeom>
          <a:solidFill>
            <a:srgbClr val="752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27187E"/>
                </a:solidFill>
                <a:latin typeface="Arial"/>
              </a:defRPr>
            </a:pPr>
            <a:r>
              <a:t>Latar Belakang (1/4)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1">
                <a:solidFill>
                  <a:srgbClr val="752BBE"/>
                </a:solidFill>
                <a:latin typeface="Arial"/>
              </a:defRPr>
            </a:pPr>
            <a:r>
              <a:t>Tujuan bagian ini: Bangun konteks: mengapa topik ini penting untuk ditangani sekarang.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10698480" cy="4114800"/>
          </a:xfrm>
          <a:prstGeom prst="roundRect">
            <a:avLst>
              <a:gd name="adj" fmla="val 5000"/>
            </a:avLst>
          </a:prstGeom>
          <a:solidFill>
            <a:srgbClr val="F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752BBE"/>
                </a:solidFill>
                <a:latin typeface="Arial"/>
              </a:defRPr>
            </a:pPr>
            <a:r>
              <a:t>Yang harus disampaikan (Berdasarkan Data AIMON)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34640"/>
            <a:ext cx="10149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27187E"/>
                </a:solidFill>
                <a:latin typeface="Arial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27187E"/>
                </a:solidFill>
                <a:latin typeface="Arial"/>
              </a:defRPr>
            </a:pPr>
            <a:r>
              <a:t>Kondisi Saat Ini (Unit Kerja: Departemen Research Currency &amp; Security Printing)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B5563"/>
                </a:solidFill>
                <a:latin typeface="Arial"/>
              </a:defRPr>
            </a:pPr>
            <a:r>
              <a:t>• Departemen Research Currency &amp; Security Printing saat ini menangani 9 proyek riset aktif yang berjalan simultan (Semester II Tahun 2026).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B5563"/>
                </a:solidFill>
                <a:latin typeface="Arial"/>
              </a:defRPr>
            </a:pPr>
            <a:r>
              <a:t>• Total capaian departemen per Agustus 2026 tercatat sebesar 39,49%.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B5563"/>
                </a:solidFill>
                <a:latin typeface="Arial"/>
              </a:defRPr>
            </a:pPr>
            <a:r>
              <a:t>• Proses monitoring seluruh proyek dilakukan secara manual menggunakan spreadsheet (Microsoft Excel).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B5563"/>
                </a:solidFill>
                <a:latin typeface="Arial"/>
              </a:defRPr>
            </a:pPr>
            <a:r>
              <a:t>• Setiap proyek memiliki 1 file Excel terpisah dengan struktur yang sangat kompleks.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500" b="1">
                <a:solidFill>
                  <a:srgbClr val="27187E"/>
                </a:solidFill>
                <a:latin typeface="Arial"/>
              </a:defRPr>
            </a:pPr>
            <a:r>
              <a:t>Detail Struktur File Excel PIC Proyek: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B5563"/>
                </a:solidFill>
                <a:latin typeface="Arial"/>
              </a:defRPr>
            </a:pPr>
            <a:r>
              <a:t>• Minimal 5 sheet per file: Kurva S, Main Dashboard, Parameter, Sheet Kerja, Kurva S Mingguan.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B5563"/>
                </a:solidFill>
                <a:latin typeface="Arial"/>
              </a:defRPr>
            </a:pPr>
            <a:r>
              <a:t>• Setiap Main Dashboard mencatat 30+ baris aktivitas terperinci.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B5563"/>
                </a:solidFill>
                <a:latin typeface="Arial"/>
              </a:defRPr>
            </a:pPr>
            <a:r>
              <a:t>• Kurva-S dihitung menggunakan formula SUMPRODUCT &amp; SUMIFS yang rawan error.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B5563"/>
                </a:solidFill>
                <a:latin typeface="Arial"/>
              </a:defRPr>
            </a:pPr>
            <a:r>
              <a:t>• Dengan 9 proyek aktif, terdapat 9 file Excel (45 sheet) yang harus dikelola dan dikompilasi manual per minggu.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7187E"/>
                </a:solidFill>
                <a:latin typeface="Arial"/>
              </a:defRPr>
            </a:pPr>
            <a:r>
              <a:t>PERURI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 i="0">
                <a:solidFill>
                  <a:srgbClr val="27187E"/>
                </a:solidFill>
                <a:latin typeface="Arial"/>
              </a:defRPr>
            </a:pPr>
            <a:r>
              <a:t>IAKA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 i="0">
                <a:solidFill>
                  <a:srgbClr val="27187E"/>
                </a:solidFill>
                <a:latin typeface="Arial"/>
              </a:defRPr>
            </a:pPr>
            <a:r>
              <a:t>INNOVATION &amp; KAIZEN AWARD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005840"/>
            <a:ext cx="822960" cy="822960"/>
          </a:xfrm>
          <a:prstGeom prst="ellipse">
            <a:avLst/>
          </a:prstGeom>
          <a:solidFill>
            <a:srgbClr val="752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27187E"/>
                </a:solidFill>
                <a:latin typeface="Arial"/>
              </a:defRPr>
            </a:pPr>
            <a:r>
              <a:t>Latar Belakang (2/4)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1">
                <a:solidFill>
                  <a:srgbClr val="752BBE"/>
                </a:solidFill>
                <a:latin typeface="Arial"/>
              </a:defRPr>
            </a:pPr>
            <a:r>
              <a:t>Tujuan bagian ini: Bangun konteks: mengapa topik ini penting untuk ditangani sekarang.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10698480" cy="4114800"/>
          </a:xfrm>
          <a:prstGeom prst="roundRect">
            <a:avLst>
              <a:gd name="adj" fmla="val 5000"/>
            </a:avLst>
          </a:prstGeom>
          <a:solidFill>
            <a:srgbClr val="F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752BBE"/>
                </a:solidFill>
                <a:latin typeface="Arial"/>
              </a:defRPr>
            </a:pPr>
            <a:r>
              <a:t>Yang harus disampaikan (Berdasarkan Data AIMON)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34640"/>
            <a:ext cx="10149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27187E"/>
                </a:solidFill>
                <a:latin typeface="Arial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27187E"/>
                </a:solidFill>
                <a:latin typeface="Arial"/>
              </a:defRPr>
            </a:pPr>
            <a:r>
              <a:t>Mengapa Ini Penting bagi Operasional Perusahaan?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• Proyek Strategis: Departemen R&amp;D adalah ujung tombak inovasi Peruri, menangani program kerja OMTI (progress 44,94%) dan Non-OMTI/PM.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• Ketergantungan Fase: Setiap proyek memiliki 9 fase bertingkat. Keterlambatan di satu fase (contoh: Piloting SNI) menggagalkan timeline keseluruhan.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• Keterlambatan Keputusan: Kepala Departemen dan Kepala Divisi tidak bisa melihat progress secara langsung. Harus menunggu laporan manual (delay).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752BBE"/>
                </a:solidFill>
                <a:latin typeface="Arial"/>
              </a:defRPr>
            </a:pPr>
            <a:r>
              <a:t>• KELUHAN NYATA DARI KEPALA DIVISI: Beliau menyampaikan keluhan spesifik bahwa ia tidak bisa memantau progress proyek secara langsung dan harus bertanya manual, yang memperlambat pengambilan keputusan strategis.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• Potensi Kerugian: Keterlambatan deteksi deviasi menyebabkan potensi cost overrun, pemborosan jam kerja, dan penurunan reputasi departemen.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7187E"/>
                </a:solidFill>
                <a:latin typeface="Arial"/>
              </a:defRPr>
            </a:pPr>
            <a:r>
              <a:t>PERURI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 i="0">
                <a:solidFill>
                  <a:srgbClr val="27187E"/>
                </a:solidFill>
                <a:latin typeface="Arial"/>
              </a:defRPr>
            </a:pPr>
            <a:r>
              <a:t>IAKA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 i="0">
                <a:solidFill>
                  <a:srgbClr val="27187E"/>
                </a:solidFill>
                <a:latin typeface="Arial"/>
              </a:defRPr>
            </a:pPr>
            <a:r>
              <a:t>INNOVATION &amp; KAIZEN AWARD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005840"/>
            <a:ext cx="822960" cy="822960"/>
          </a:xfrm>
          <a:prstGeom prst="ellipse">
            <a:avLst/>
          </a:prstGeom>
          <a:solidFill>
            <a:srgbClr val="752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27187E"/>
                </a:solidFill>
                <a:latin typeface="Arial"/>
              </a:defRPr>
            </a:pPr>
            <a:r>
              <a:t>Latar Belakang (3/4)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1">
                <a:solidFill>
                  <a:srgbClr val="752BBE"/>
                </a:solidFill>
                <a:latin typeface="Arial"/>
              </a:defRPr>
            </a:pPr>
            <a:r>
              <a:t>Tujuan bagian ini: Bangun konteks: mengapa topik ini penting untuk ditangani sekarang.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10698480" cy="4114800"/>
          </a:xfrm>
          <a:prstGeom prst="roundRect">
            <a:avLst>
              <a:gd name="adj" fmla="val 5000"/>
            </a:avLst>
          </a:prstGeom>
          <a:solidFill>
            <a:srgbClr val="F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752BBE"/>
                </a:solidFill>
                <a:latin typeface="Arial"/>
              </a:defRPr>
            </a:pPr>
            <a:r>
              <a:t>Yang harus disampaikan (Berdasarkan Data AIMON)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4320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27187E"/>
                </a:solidFill>
                <a:latin typeface="Arial"/>
              </a:defRPr>
            </a:pPr>
            <a:r>
              <a:t>Data Awal yang Memicu (Riil per Agustus 2026)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005840" y="3200400"/>
          <a:ext cx="101498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6949440"/>
                <a:gridCol w="1097280"/>
                <a:gridCol w="1645920"/>
              </a:tblGrid>
              <a:tr h="2743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752BB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Nama Proyek (9 Proyek Aktif)</a:t>
                      </a:r>
                    </a:p>
                  </a:txBody>
                  <a:tcPr>
                    <a:solidFill>
                      <a:srgbClr val="752BB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752BB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Kategori</a:t>
                      </a:r>
                    </a:p>
                  </a:txBody>
                  <a:tcPr>
                    <a:solidFill>
                      <a:srgbClr val="752BB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Riset Kemasan Uang Kertas (Uji Remise)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OMTI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Kajian Implementasi 100% Banknote Inspection (Sortir Machine)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37%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OMTI 2026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Uji Coba Sistem Proses &amp; Prototype Polycarbonate Datapage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22,5%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OMTI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Riset &amp; Pengembangan Prototype Mesin Security Features (Planchette)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27,7%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OMTI 2026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Riset Substitusi Material Bahan Pembuatan Roll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35,4%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OMTI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Riset Mekanisasi Packaging Uang Kertas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21%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Riset Traceability Uang Kertas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29,8%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PM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Uji Coba Cetak Kertas End Paper Passport PT Kertas Padalarang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82%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Peningkatan Pengetahuan dan Kompetensi SDM RDCSprinsol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7187E"/>
                </a:solidFill>
                <a:latin typeface="Arial"/>
              </a:defRPr>
            </a:pPr>
            <a:r>
              <a:t>PERURI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 i="0">
                <a:solidFill>
                  <a:srgbClr val="27187E"/>
                </a:solidFill>
                <a:latin typeface="Arial"/>
              </a:defRPr>
            </a:pPr>
            <a:r>
              <a:t>IAKA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 i="0">
                <a:solidFill>
                  <a:srgbClr val="27187E"/>
                </a:solidFill>
                <a:latin typeface="Arial"/>
              </a:defRPr>
            </a:pPr>
            <a:r>
              <a:t>INNOVATION &amp; KAIZEN AWARD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005840"/>
            <a:ext cx="822960" cy="822960"/>
          </a:xfrm>
          <a:prstGeom prst="ellipse">
            <a:avLst/>
          </a:prstGeom>
          <a:solidFill>
            <a:srgbClr val="752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27187E"/>
                </a:solidFill>
                <a:latin typeface="Arial"/>
              </a:defRPr>
            </a:pPr>
            <a:r>
              <a:t>Latar Belakang (4/4)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1">
                <a:solidFill>
                  <a:srgbClr val="752BBE"/>
                </a:solidFill>
                <a:latin typeface="Arial"/>
              </a:defRPr>
            </a:pPr>
            <a:r>
              <a:t>Tujuan bagian ini: Bangun konteks: mengapa topik ini penting untuk ditangani sekarang.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10698480" cy="4114800"/>
          </a:xfrm>
          <a:prstGeom prst="roundRect">
            <a:avLst>
              <a:gd name="adj" fmla="val 5000"/>
            </a:avLst>
          </a:prstGeom>
          <a:solidFill>
            <a:srgbClr val="F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752BBE"/>
                </a:solidFill>
                <a:latin typeface="Arial"/>
              </a:defRPr>
            </a:pPr>
            <a:r>
              <a:t>Yang harus disampaikan (Berdasarkan Data AIMON)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34640"/>
            <a:ext cx="10149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27187E"/>
                </a:solidFill>
                <a:latin typeface="Arial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27187E"/>
                </a:solidFill>
                <a:latin typeface="Arial"/>
              </a:defRPr>
            </a:pPr>
            <a:r>
              <a:t>Estimasi Beban Waktu Rekap Manual (Berdasarkan Kompleksitas Excel)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Setiap kali ada update, Researcher harus melalui siklus manual:</a:t>
            </a:r>
          </a:p>
          <a:p>
            <a:pPr lvl="1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B5563"/>
                </a:solidFill>
                <a:latin typeface="Arial"/>
              </a:defRPr>
            </a:pPr>
            <a:r>
              <a:t>1. Buka file Excel dari folder lokal</a:t>
            </a:r>
          </a:p>
          <a:p>
            <a:pPr lvl="1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B5563"/>
                </a:solidFill>
                <a:latin typeface="Arial"/>
              </a:defRPr>
            </a:pPr>
            <a:r>
              <a:t>2. Cari sheet Main Dashboard &amp; temukan aktivitas spesifik</a:t>
            </a:r>
          </a:p>
          <a:p>
            <a:pPr lvl="1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B5563"/>
                </a:solidFill>
                <a:latin typeface="Arial"/>
              </a:defRPr>
            </a:pPr>
            <a:r>
              <a:t>3. Input angka nilai baru</a:t>
            </a:r>
          </a:p>
          <a:p>
            <a:pPr lvl="1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B5563"/>
                </a:solidFill>
                <a:latin typeface="Arial"/>
              </a:defRPr>
            </a:pPr>
            <a:r>
              <a:t>4. Pindah ke sheet Kurva S, pastikan formula SUMPRODUCT tidak rusak</a:t>
            </a:r>
          </a:p>
          <a:p>
            <a:pPr lvl="1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B5563"/>
                </a:solidFill>
                <a:latin typeface="Arial"/>
              </a:defRPr>
            </a:pPr>
            <a:r>
              <a:t>5. Warnai sel Gantt Chart mingguan secara manual</a:t>
            </a:r>
          </a:p>
          <a:p>
            <a:pPr lvl="1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B5563"/>
                </a:solidFill>
                <a:latin typeface="Arial"/>
              </a:defRPr>
            </a:pPr>
            <a:r>
              <a:t>6. Simpan file lalu kirim ulang via Email/WhatsApp ke Atasan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500" b="1">
                <a:solidFill>
                  <a:srgbClr val="27187E"/>
                </a:solidFill>
                <a:latin typeface="Arial"/>
              </a:defRPr>
            </a:pPr>
            <a:r>
              <a:t>Estimasi Waktu yang Terbuang: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• Waktu update 1 proyek: ~30–45 menit per minggu.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• Total waktu kompilasi 9 proyek: ~4,5–6,5 jam per minggu (hanya untuk kegiatan administratif).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• Tambahan waktu Kadept menyusun Summary untuk Kadiv: ~1–2 jam/minggu (buka 9 file, kompilasi data).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7187E"/>
                </a:solidFill>
                <a:latin typeface="Arial"/>
              </a:defRPr>
            </a:pPr>
            <a:r>
              <a:t>PERURI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 i="0">
                <a:solidFill>
                  <a:srgbClr val="27187E"/>
                </a:solidFill>
                <a:latin typeface="Arial"/>
              </a:defRPr>
            </a:pPr>
            <a:r>
              <a:t>IAKA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 i="0">
                <a:solidFill>
                  <a:srgbClr val="27187E"/>
                </a:solidFill>
                <a:latin typeface="Arial"/>
              </a:defRPr>
            </a:pPr>
            <a:r>
              <a:t>INNOVATION &amp; KAIZEN AWARD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005840"/>
            <a:ext cx="822960" cy="822960"/>
          </a:xfrm>
          <a:prstGeom prst="ellipse">
            <a:avLst/>
          </a:prstGeom>
          <a:solidFill>
            <a:srgbClr val="752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27187E"/>
                </a:solidFill>
                <a:latin typeface="Arial"/>
              </a:defRPr>
            </a:pPr>
            <a:r>
              <a:t>Masalah (1/3)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1">
                <a:solidFill>
                  <a:srgbClr val="752BBE"/>
                </a:solidFill>
                <a:latin typeface="Arial"/>
              </a:defRPr>
            </a:pPr>
            <a:r>
              <a:t>Tujuan bagian ini: Nyatakan masalah operasional nyata dan terukur — bukan keluhan umum.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10698480" cy="4114800"/>
          </a:xfrm>
          <a:prstGeom prst="roundRect">
            <a:avLst>
              <a:gd name="adj" fmla="val 5000"/>
            </a:avLst>
          </a:prstGeom>
          <a:solidFill>
            <a:srgbClr val="F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752BBE"/>
                </a:solidFill>
                <a:latin typeface="Arial"/>
              </a:defRPr>
            </a:pPr>
            <a:r>
              <a:t>Yang harus disampaikan (Berdasarkan Data AIMON)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5176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27187E"/>
                </a:solidFill>
                <a:latin typeface="Arial"/>
              </a:defRPr>
            </a:pPr>
            <a:r>
              <a:t>Pernyataan Masalah (Part 1)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005840" y="3108960"/>
          <a:ext cx="101498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4572000"/>
                <a:gridCol w="1828800"/>
                <a:gridCol w="3291840"/>
              </a:tblGrid>
              <a:tr h="2743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752BB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Masalah</a:t>
                      </a:r>
                    </a:p>
                  </a:txBody>
                  <a:tcPr>
                    <a:solidFill>
                      <a:srgbClr val="752BB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Lokasi/Unit</a:t>
                      </a:r>
                    </a:p>
                  </a:txBody>
                  <a:tcPr>
                    <a:solidFill>
                      <a:srgbClr val="752BB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Dampak Terukur</a:t>
                      </a:r>
                    </a:p>
                  </a:txBody>
                  <a:tcPr>
                    <a:solidFill>
                      <a:srgbClr val="752BB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Kepala Divisi tidak bisa memantau progress secara langsung (harus bertanya manual tiap ingin info terbaru)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Kepala Divisi → Dept. Research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Keluhan nyata dari Kepala Divisi terkait lambatnya informasi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9 file Excel terpisah dikelola manual dengan struktur kompleks (5 sheet, 30+ baris aktivitas, formula SUMPRODUCT)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Seluruh PIC proyek (9 orang)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9 file × 5 sheet × 30+ baris = ratusan sel data rawan error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Proses rekap mingguan sangat memakan waktu, membebani pekerjaan inti PIC dan Kadept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PIC proyek, Kasi, Kadept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Estimasi terbuang ~4,5–6,5 jam/minggu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Excel tidak bisa berubah secara real-time. Harus selalu kirim versi file terbaru via WA/Email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Semua level manajemen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Informasi yang dilihat atasan bisa kedaluwarsa 1-2 minggu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7187E"/>
                </a:solidFill>
                <a:latin typeface="Arial"/>
              </a:defRPr>
            </a:pPr>
            <a:r>
              <a:t>PERURI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 i="0">
                <a:solidFill>
                  <a:srgbClr val="27187E"/>
                </a:solidFill>
                <a:latin typeface="Arial"/>
              </a:defRPr>
            </a:pPr>
            <a:r>
              <a:t>IAKA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 i="0">
                <a:solidFill>
                  <a:srgbClr val="27187E"/>
                </a:solidFill>
                <a:latin typeface="Arial"/>
              </a:defRPr>
            </a:pPr>
            <a:r>
              <a:t>INNOVATION &amp; KAIZEN AWARD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005840"/>
            <a:ext cx="822960" cy="822960"/>
          </a:xfrm>
          <a:prstGeom prst="ellipse">
            <a:avLst/>
          </a:prstGeom>
          <a:solidFill>
            <a:srgbClr val="752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27187E"/>
                </a:solidFill>
                <a:latin typeface="Arial"/>
              </a:defRPr>
            </a:pPr>
            <a:r>
              <a:t>Masalah (2/3)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1">
                <a:solidFill>
                  <a:srgbClr val="752BBE"/>
                </a:solidFill>
                <a:latin typeface="Arial"/>
              </a:defRPr>
            </a:pPr>
            <a:r>
              <a:t>Tujuan bagian ini: Nyatakan masalah operasional nyata dan terukur — bukan keluhan umum.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10698480" cy="4114800"/>
          </a:xfrm>
          <a:prstGeom prst="roundRect">
            <a:avLst>
              <a:gd name="adj" fmla="val 5000"/>
            </a:avLst>
          </a:prstGeom>
          <a:solidFill>
            <a:srgbClr val="F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752BBE"/>
                </a:solidFill>
                <a:latin typeface="Arial"/>
              </a:defRPr>
            </a:pPr>
            <a:r>
              <a:t>Yang harus disampaikan (Berdasarkan Data AIMON)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5176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27187E"/>
                </a:solidFill>
                <a:latin typeface="Arial"/>
              </a:defRPr>
            </a:pPr>
            <a:r>
              <a:t>Pernyataan Masalah (Part 2)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005840" y="3108960"/>
          <a:ext cx="101498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4572000"/>
                <a:gridCol w="1828800"/>
                <a:gridCol w="3291840"/>
              </a:tblGrid>
              <a:tr h="2743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752BB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Masalah</a:t>
                      </a:r>
                    </a:p>
                  </a:txBody>
                  <a:tcPr>
                    <a:solidFill>
                      <a:srgbClr val="752BB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Lokasi/Unit</a:t>
                      </a:r>
                    </a:p>
                  </a:txBody>
                  <a:tcPr>
                    <a:solidFill>
                      <a:srgbClr val="752BB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Dampak Terukur</a:t>
                      </a:r>
                    </a:p>
                  </a:txBody>
                  <a:tcPr>
                    <a:solidFill>
                      <a:srgbClr val="752BB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Terlalu banyak file yang harus di-maintain. Risiko file hilang, corrupt, atau tertimpa versi lama (versioning berantakan)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Seluruh PIC proyek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Risiko kehilangan data yang krusial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Tidak ada audit trail. Riwayat perubahan progress tidak terekam otomatis; sulit telusuri sengketa data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Semua level manajemen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Tidak ada data historikal riwayat edit (siapa, kapan)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Komunikasi proyek tersebar antara WA pribadi, grup, email. Tidak ada satu wadah terpusat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Semua personil proyek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Informasi tercecer, risiko miskomunikasi tinggi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Tidak ada mekanisme approval digital terstandar (hanya lisan/chat WA)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Kepala Seksi sebagai reviewer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Approval bottleneck, laporan tersendat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7187E"/>
                </a:solidFill>
                <a:latin typeface="Arial"/>
              </a:defRPr>
            </a:pPr>
            <a:r>
              <a:t>PERURI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 i="0">
                <a:solidFill>
                  <a:srgbClr val="27187E"/>
                </a:solidFill>
                <a:latin typeface="Arial"/>
              </a:defRPr>
            </a:pPr>
            <a:r>
              <a:t>IAKA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 i="0">
                <a:solidFill>
                  <a:srgbClr val="27187E"/>
                </a:solidFill>
                <a:latin typeface="Arial"/>
              </a:defRPr>
            </a:pPr>
            <a:r>
              <a:t>INNOVATION &amp; KAIZEN AWARD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005840"/>
            <a:ext cx="822960" cy="822960"/>
          </a:xfrm>
          <a:prstGeom prst="ellipse">
            <a:avLst/>
          </a:prstGeom>
          <a:solidFill>
            <a:srgbClr val="752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27187E"/>
                </a:solidFill>
                <a:latin typeface="Arial"/>
              </a:defRPr>
            </a:pPr>
            <a:r>
              <a:t>Masalah (3/3)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1">
                <a:solidFill>
                  <a:srgbClr val="752BBE"/>
                </a:solidFill>
                <a:latin typeface="Arial"/>
              </a:defRPr>
            </a:pPr>
            <a:r>
              <a:t>Tujuan bagian ini: Nyatakan masalah operasional nyata dan terukur — bukan keluhan umum.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10698480" cy="4114800"/>
          </a:xfrm>
          <a:prstGeom prst="roundRect">
            <a:avLst>
              <a:gd name="adj" fmla="val 5000"/>
            </a:avLst>
          </a:prstGeom>
          <a:solidFill>
            <a:srgbClr val="F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752BBE"/>
                </a:solidFill>
                <a:latin typeface="Arial"/>
              </a:defRPr>
            </a:pPr>
            <a:r>
              <a:t>Yang harus disampaikan (Berdasarkan Data AIMON)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51760"/>
            <a:ext cx="10149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27187E"/>
                </a:solidFill>
                <a:latin typeface="Arial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27187E"/>
                </a:solidFill>
                <a:latin typeface="Arial"/>
              </a:defRPr>
            </a:pPr>
            <a:r>
              <a:t>Baseline Permasalahan: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• Jumlah proyek &amp; file Excel: 9 proyek = 9 file (masing-masing 5 sheet).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• Total capaian departemen awal: 39,49%.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• Keterlambatan deteksi deviasi: 1–2 minggu (siklus pelaporan periodik).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• Waktu proses approval: 1–3 hari kerja (karena offline/chat).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27187E"/>
                </a:solidFill>
                <a:latin typeface="Arial"/>
              </a:defRPr>
            </a:pPr>
            <a:r>
              <a:t>Dampak Operasional Bila Terus Dibiarkan: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EF4444"/>
                </a:solidFill>
                <a:latin typeface="Arial"/>
              </a:defRPr>
            </a:pPr>
            <a:r>
              <a:t>• Biaya: Cost overrun tinggi karena masalah terdeteksi setelah terlambat.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• Mutu: Manajemen tertinggi (Kadiv) mengambil keputusan berdasarkan data usang.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• Kepatuhan: Potensi pelanggaran deadline pelaporan ke manajemen pusat Peruri.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• Efisiensi: Jam kerja produktif R&amp;D terbuang untuk mengelola spreadsheet Excel.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7187E"/>
                </a:solidFill>
                <a:latin typeface="Arial"/>
              </a:defRPr>
            </a:pPr>
            <a:r>
              <a:t>PERURI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 i="0">
                <a:solidFill>
                  <a:srgbClr val="27187E"/>
                </a:solidFill>
                <a:latin typeface="Arial"/>
              </a:defRPr>
            </a:pPr>
            <a:r>
              <a:t>IAKA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 i="0">
                <a:solidFill>
                  <a:srgbClr val="27187E"/>
                </a:solidFill>
                <a:latin typeface="Arial"/>
              </a:defRPr>
            </a:pPr>
            <a:r>
              <a:t>INNOVATION &amp; KAIZEN AWARD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005840"/>
            <a:ext cx="822960" cy="822960"/>
          </a:xfrm>
          <a:prstGeom prst="ellipse">
            <a:avLst/>
          </a:prstGeom>
          <a:solidFill>
            <a:srgbClr val="752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27187E"/>
                </a:solidFill>
                <a:latin typeface="Arial"/>
              </a:defRPr>
            </a:pPr>
            <a:r>
              <a:t>Analisis Penyebab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1">
                <a:solidFill>
                  <a:srgbClr val="752BBE"/>
                </a:solidFill>
                <a:latin typeface="Arial"/>
              </a:defRPr>
            </a:pPr>
            <a:r>
              <a:t>Tujuan bagian ini: Tunjukkan akar masalah, bukan sekadar gejalanya.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10698480" cy="4114800"/>
          </a:xfrm>
          <a:prstGeom prst="roundRect">
            <a:avLst>
              <a:gd name="adj" fmla="val 5000"/>
            </a:avLst>
          </a:prstGeom>
          <a:solidFill>
            <a:srgbClr val="F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752BBE"/>
                </a:solidFill>
                <a:latin typeface="Arial"/>
              </a:defRPr>
            </a:pPr>
            <a:r>
              <a:t>Yang harus disampaikan (Berdasarkan Data AIMON)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43200"/>
            <a:ext cx="10149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27187E"/>
                </a:solidFill>
                <a:latin typeface="Arial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27187E"/>
                </a:solidFill>
                <a:latin typeface="Arial"/>
              </a:defRPr>
            </a:pPr>
            <a:r>
              <a:t>Metode Analisis: 5 Why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4B5563"/>
                </a:solidFill>
                <a:latin typeface="Arial"/>
              </a:defRPr>
            </a:pPr>
            <a:r>
              <a:t>Problem Utama: Proses monitoring lambat, Kadiv tak bisa lihat real-time.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B5563"/>
                </a:solidFill>
                <a:latin typeface="Arial"/>
              </a:defRPr>
            </a:pPr>
            <a:r>
              <a:t>• WHY 1: Mengapa progress tidak termonitor real-time? → Karena data dikelola manual oleh masing-masing PIC.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B5563"/>
                </a:solidFill>
                <a:latin typeface="Arial"/>
              </a:defRPr>
            </a:pPr>
            <a:r>
              <a:t>• WHY 2: Mengapa dikelola masing-masing PIC? → Karena 9 proyek menggunakan 9 file Excel individual yang tidak terhubung.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B5563"/>
                </a:solidFill>
                <a:latin typeface="Arial"/>
              </a:defRPr>
            </a:pPr>
            <a:r>
              <a:t>• WHY 3: Mengapa tidak ada file yang saling terhubung? → Karena departemen belum memiliki platform digital terpusat.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B5563"/>
                </a:solidFill>
                <a:latin typeface="Arial"/>
              </a:defRPr>
            </a:pPr>
            <a:r>
              <a:t>• WHY 4: Mengapa tidak punya platform digital? → Solusi komersial mahal &amp; tak akomodir kebutuhan khas Peruri (OMTI, bobot).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B5563"/>
                </a:solidFill>
                <a:latin typeface="Arial"/>
              </a:defRPr>
            </a:pPr>
            <a:r>
              <a:t>• WHY 5: Mengapa tidak buat sistem sendiri? → Asumsi membangun sistem butuh banyak programmer dan waktu berbulan-bulan.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52BBE"/>
                </a:solidFill>
                <a:latin typeface="Arial"/>
              </a:defRPr>
            </a:pPr>
            <a:r>
              <a:t>Akar Masalah Utama: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27187E"/>
                </a:solidFill>
                <a:latin typeface="Arial"/>
              </a:defRPr>
            </a:pPr>
            <a:r>
              <a:t>Ketiadaan platform monitoring proyek terpusat yang didesain khusus, ditambah hambatan persepsi bahwa membangun sistem mandiri membutuhkan biaya dan SDM tinggi (Padahal, kini bisa diatasi dengan AI-Assisted Development).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7187E"/>
                </a:solidFill>
                <a:latin typeface="Arial"/>
              </a:defRPr>
            </a:pPr>
            <a:r>
              <a:t>PERURI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 i="0">
                <a:solidFill>
                  <a:srgbClr val="27187E"/>
                </a:solidFill>
                <a:latin typeface="Arial"/>
              </a:defRPr>
            </a:pPr>
            <a:r>
              <a:t>IAKA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 i="0">
                <a:solidFill>
                  <a:srgbClr val="27187E"/>
                </a:solidFill>
                <a:latin typeface="Arial"/>
              </a:defRPr>
            </a:pPr>
            <a:r>
              <a:t>INNOVATION &amp; KAIZEN AWARD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005840"/>
            <a:ext cx="822960" cy="822960"/>
          </a:xfrm>
          <a:prstGeom prst="ellipse">
            <a:avLst/>
          </a:prstGeom>
          <a:solidFill>
            <a:srgbClr val="752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27187E"/>
                </a:solidFill>
                <a:latin typeface="Arial"/>
              </a:defRPr>
            </a:pPr>
            <a:r>
              <a:t>Analisis Penyebab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1">
                <a:solidFill>
                  <a:srgbClr val="752BBE"/>
                </a:solidFill>
                <a:latin typeface="Arial"/>
              </a:defRPr>
            </a:pPr>
            <a:r>
              <a:t>Tujuan bagian ini: Tunjukkan akar masalah, bukan sekadar gejalanya.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10698480" cy="4114800"/>
          </a:xfrm>
          <a:prstGeom prst="roundRect">
            <a:avLst>
              <a:gd name="adj" fmla="val 5000"/>
            </a:avLst>
          </a:prstGeom>
          <a:solidFill>
            <a:srgbClr val="F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752BBE"/>
                </a:solidFill>
                <a:latin typeface="Arial"/>
              </a:defRPr>
            </a:pPr>
            <a:r>
              <a:t>Yang harus disampaikan (Berdasarkan Data AIMON)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43200"/>
            <a:ext cx="10149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27187E"/>
                </a:solidFill>
                <a:latin typeface="Arial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27187E"/>
                </a:solidFill>
                <a:latin typeface="Arial"/>
              </a:defRPr>
            </a:pPr>
            <a:r>
              <a:t>Temuan &amp; Bukti Pendukung Akar Masalah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Berdasarkan analisis kebutuhan saat mendesain database AIMON, terbukti bahwa proses bisnis monitoring proyek R&amp;D ini SANGAT KOMPLEKS, dan TIDAK IDEAL jika dipaksakan menggunakan Microsoft Excel.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27187E"/>
                </a:solidFill>
                <a:latin typeface="Arial"/>
              </a:defRPr>
            </a:pPr>
            <a:r>
              <a:t>Bukti 1 (Kompleksitas Data):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Sistem baru AIMON pada akhirnya membutuhkan 12 Tabel Relasional (User, Project, Phase, Activity, Approval, Chat, dll). Mengelola relasi data sebanyak ini dalam 9 file Excel adalah penyebab utama lambatnya laporan.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27187E"/>
                </a:solidFill>
                <a:latin typeface="Arial"/>
              </a:defRPr>
            </a:pPr>
            <a:r>
              <a:t>Bukti 2 (Alur Kerja Serial):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Workflow approval ternyata berjenjang (Researcher → Kasi → Kadept). Di Excel, ini menyebabkan proses serial (harus tunggu 1 orang selesai mengecek file). Di sistem terpusat, ini bisa dilakukan secara paralel.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7187E"/>
                </a:solidFill>
                <a:latin typeface="Arial"/>
              </a:defRPr>
            </a:pPr>
            <a:r>
              <a:t>PERURI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 i="0">
                <a:solidFill>
                  <a:srgbClr val="27187E"/>
                </a:solidFill>
                <a:latin typeface="Arial"/>
              </a:defRPr>
            </a:pPr>
            <a:r>
              <a:t>IAKA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 i="0">
                <a:solidFill>
                  <a:srgbClr val="27187E"/>
                </a:solidFill>
                <a:latin typeface="Arial"/>
              </a:defRPr>
            </a:pPr>
            <a:r>
              <a:t>INNOVATION &amp; KAIZEN AWARD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005840"/>
            <a:ext cx="822960" cy="822960"/>
          </a:xfrm>
          <a:prstGeom prst="ellipse">
            <a:avLst/>
          </a:prstGeom>
          <a:solidFill>
            <a:srgbClr val="752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27187E"/>
                </a:solidFill>
                <a:latin typeface="Arial"/>
              </a:defRPr>
            </a:pPr>
            <a:r>
              <a:t>Solusi (1/5)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1">
                <a:solidFill>
                  <a:srgbClr val="752BBE"/>
                </a:solidFill>
                <a:latin typeface="Arial"/>
              </a:defRPr>
            </a:pPr>
            <a:r>
              <a:t>Tujuan bagian ini: Jelaskan solusi yang logis dan cukup sederhana untuk diuji skala kecil.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10698480" cy="4114800"/>
          </a:xfrm>
          <a:prstGeom prst="roundRect">
            <a:avLst>
              <a:gd name="adj" fmla="val 5000"/>
            </a:avLst>
          </a:prstGeom>
          <a:solidFill>
            <a:srgbClr val="F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752BBE"/>
                </a:solidFill>
                <a:latin typeface="Arial"/>
              </a:defRPr>
            </a:pPr>
            <a:r>
              <a:t>Yang harus disampaikan (Berdasarkan Data AIMON)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51760"/>
            <a:ext cx="10149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7187E"/>
                </a:solidFill>
                <a:latin typeface="Arial"/>
              </a:defRPr>
            </a:pPr>
            <a:r>
              <a:t>Platform AIMON: AI Monitoring for Optimization and Navigation</a:t>
            </a:r>
            <a:br/>
            <a:r>
              <a:t>Sebuah web-app terpusat yang dirancang khusus untuk mematahkan limitasi Excel.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005840" y="3200400"/>
          <a:ext cx="1014984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5120640"/>
              </a:tblGrid>
              <a:tr h="274319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Limitasi Excel (Akar Masalah)</a:t>
                      </a:r>
                    </a:p>
                  </a:txBody>
                  <a:tcPr>
                    <a:solidFill>
                      <a:srgbClr val="752BB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Solusi Sistem AIMON</a:t>
                      </a:r>
                    </a:p>
                  </a:txBody>
                  <a:tcPr>
                    <a:solidFill>
                      <a:srgbClr val="752BB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Mekanisme / Konsep Kerja</a:t>
                      </a:r>
                    </a:p>
                  </a:txBody>
                  <a:tcPr>
                    <a:solidFill>
                      <a:srgbClr val="752BBE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9 file terpisah (Data Siloed)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Single Source of Truth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Seluruh data 9 proyek dimasukkan ke 1 Cloud Database PostgreSQL (Supabase).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Laporan periodik, butuh refresh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Real-time WebSocket Push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Memakai Socket.io. Jika PIC update data, browser Kadiv otomatis refresh angka.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Approval via chat/email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Approval Queue Digital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PIC klik Submit → Atasan dapat notifikasi → Klik Approve → Database ter-update.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Gantt &amp; Kurva-S rumit/manual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Auto-rendered Dashboard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Sistem menggunakan Chart.js untuk menggambar kurva-S &amp; RAG 🔴🟡🟢 seketika.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</a:tr>
              <a:tr h="27432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Komunikasi berserakan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In-App Chat Terintegrasi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Chat layaknya WhatsApp di dalam aplikasi, terikat langsung dengan progress proyek.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7187E"/>
                </a:solidFill>
                <a:latin typeface="Arial"/>
              </a:defRPr>
            </a:pPr>
            <a:r>
              <a:t>PERURI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 i="0">
                <a:solidFill>
                  <a:srgbClr val="27187E"/>
                </a:solidFill>
                <a:latin typeface="Arial"/>
              </a:defRPr>
            </a:pPr>
            <a:r>
              <a:t>IAKA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 i="0">
                <a:solidFill>
                  <a:srgbClr val="27187E"/>
                </a:solidFill>
                <a:latin typeface="Arial"/>
              </a:defRPr>
            </a:pPr>
            <a:r>
              <a:t>INNOVATION &amp; KAIZEN AWARD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005840"/>
            <a:ext cx="822960" cy="822960"/>
          </a:xfrm>
          <a:prstGeom prst="ellipse">
            <a:avLst/>
          </a:prstGeom>
          <a:solidFill>
            <a:srgbClr val="752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27187E"/>
                </a:solidFill>
                <a:latin typeface="Arial"/>
              </a:defRPr>
            </a:pPr>
            <a:r>
              <a:t>Solusi (2/5) — Fitur Live Lengkap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1">
                <a:solidFill>
                  <a:srgbClr val="752BBE"/>
                </a:solidFill>
                <a:latin typeface="Arial"/>
              </a:defRPr>
            </a:pPr>
            <a:r>
              <a:t>Tujuan bagian ini: Jelaskan solusi yang logis dan cukup sederhana untuk diuji skala kecil.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10698480" cy="4114800"/>
          </a:xfrm>
          <a:prstGeom prst="roundRect">
            <a:avLst>
              <a:gd name="adj" fmla="val 5000"/>
            </a:avLst>
          </a:prstGeom>
          <a:solidFill>
            <a:srgbClr val="F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752BBE"/>
                </a:solidFill>
                <a:latin typeface="Arial"/>
              </a:defRPr>
            </a:pPr>
            <a:r>
              <a:t>Yang harus disampaikan (Berdasarkan Data AIMON)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43200"/>
            <a:ext cx="10149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27187E"/>
                </a:solidFill>
                <a:latin typeface="Arial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27187E"/>
                </a:solidFill>
                <a:latin typeface="Arial"/>
              </a:defRPr>
            </a:pPr>
            <a:r>
              <a:t>1. Autentikasi &amp; Role-Based Access Control (RBAC)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B5563"/>
                </a:solidFill>
                <a:latin typeface="Arial"/>
              </a:defRPr>
            </a:pPr>
            <a:r>
              <a:t>• Keamanan dengan JWT (JSON Web Token) dan password hashing bcrypt.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B5563"/>
                </a:solidFill>
                <a:latin typeface="Arial"/>
              </a:defRPr>
            </a:pPr>
            <a:r>
              <a:t>• 7 Level Otoritas: Admin, Kadiv, Kadept, Kasi, Kanit, Staff, Researcher.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500" b="1">
                <a:solidFill>
                  <a:srgbClr val="27187E"/>
                </a:solidFill>
                <a:latin typeface="Arial"/>
              </a:defRPr>
            </a:pPr>
            <a:r>
              <a:t>2. Dashboard Overview Canggih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B5563"/>
                </a:solidFill>
                <a:latin typeface="Arial"/>
              </a:defRPr>
            </a:pPr>
            <a:r>
              <a:t>• Program Card OMTI &amp; Non-OMTI merangkum seluruh rata-rata progress.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B5563"/>
                </a:solidFill>
                <a:latin typeface="Arial"/>
              </a:defRPr>
            </a:pPr>
            <a:r>
              <a:t>• 5 Stat Cards Klik-able (Total, Selesai, On Progress, Terlambat, Pending).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B5563"/>
                </a:solidFill>
                <a:latin typeface="Arial"/>
              </a:defRPr>
            </a:pPr>
            <a:r>
              <a:t>• Filter Dinamis (Seksi/Kategori) &amp; Global Search engine real-time.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500" b="1">
                <a:solidFill>
                  <a:srgbClr val="27187E"/>
                </a:solidFill>
                <a:latin typeface="Arial"/>
              </a:defRPr>
            </a:pPr>
            <a:r>
              <a:t>3. Manajemen Proyek Dinamis (CRUD)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B5563"/>
                </a:solidFill>
                <a:latin typeface="Arial"/>
              </a:defRPr>
            </a:pPr>
            <a:r>
              <a:t>• Membuat proyek dengan jumlah Tahapan &amp; Aktivitas yang bisa ditambah/dikurangi.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B5563"/>
                </a:solidFill>
                <a:latin typeface="Arial"/>
              </a:defRPr>
            </a:pPr>
            <a:r>
              <a:t>• Validasi bobot ketat: Sistem menolak submit jika total bobot tahapan belum 100%.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7187E"/>
                </a:solidFill>
                <a:latin typeface="Arial"/>
              </a:defRPr>
            </a:pPr>
            <a:r>
              <a:t>PERURI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 i="0">
                <a:solidFill>
                  <a:srgbClr val="27187E"/>
                </a:solidFill>
                <a:latin typeface="Arial"/>
              </a:defRPr>
            </a:pPr>
            <a:r>
              <a:t>IAKA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 i="0">
                <a:solidFill>
                  <a:srgbClr val="27187E"/>
                </a:solidFill>
                <a:latin typeface="Arial"/>
              </a:defRPr>
            </a:pPr>
            <a:r>
              <a:t>INNOVATION &amp; KAIZEN AWARD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005840"/>
            <a:ext cx="822960" cy="822960"/>
          </a:xfrm>
          <a:prstGeom prst="ellipse">
            <a:avLst/>
          </a:prstGeom>
          <a:solidFill>
            <a:srgbClr val="752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27187E"/>
                </a:solidFill>
                <a:latin typeface="Arial"/>
              </a:defRPr>
            </a:pPr>
            <a:r>
              <a:t>Solusi (3/5) — Fitur Live Lengkap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1">
                <a:solidFill>
                  <a:srgbClr val="752BBE"/>
                </a:solidFill>
                <a:latin typeface="Arial"/>
              </a:defRPr>
            </a:pPr>
            <a:r>
              <a:t>Tujuan bagian ini: Jelaskan solusi yang logis dan cukup sederhana untuk diuji skala kecil.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10698480" cy="4114800"/>
          </a:xfrm>
          <a:prstGeom prst="roundRect">
            <a:avLst>
              <a:gd name="adj" fmla="val 5000"/>
            </a:avLst>
          </a:prstGeom>
          <a:solidFill>
            <a:srgbClr val="F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752BBE"/>
                </a:solidFill>
                <a:latin typeface="Arial"/>
              </a:defRPr>
            </a:pPr>
            <a:r>
              <a:t>Yang harus disampaikan (Berdasarkan Data AIMON)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43200"/>
            <a:ext cx="10149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27187E"/>
                </a:solidFill>
                <a:latin typeface="Arial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27187E"/>
                </a:solidFill>
                <a:latin typeface="Arial"/>
              </a:defRPr>
            </a:pPr>
            <a:r>
              <a:t>4. Detail Proyek &amp; Monitoring RAG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B5563"/>
                </a:solidFill>
                <a:latin typeface="Arial"/>
              </a:defRPr>
            </a:pPr>
            <a:r>
              <a:t>• Algoritma Real-time Kurva-S: Render grafik Plan vs Actual bulanan &amp; mingguan (Chart.js) dengan garis Today-line indikator hari ini.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B5563"/>
                </a:solidFill>
                <a:latin typeface="Arial"/>
              </a:defRPr>
            </a:pPr>
            <a:r>
              <a:t>• RAG Indicator Otomatis: Sistem menghitung deviasi dan melabeli aktivitas dengan 🟢 (Aman), 🟡 (Risiko), 🔴 (Terlambat).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B5563"/>
                </a:solidFill>
                <a:latin typeface="Arial"/>
              </a:defRPr>
            </a:pPr>
            <a:r>
              <a:t>• Gantt Chart horizontal per minggu otomatis dibuat dari tanggal kalender aktivitas.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500" b="1">
                <a:solidFill>
                  <a:srgbClr val="27187E"/>
                </a:solidFill>
                <a:latin typeface="Arial"/>
              </a:defRPr>
            </a:pPr>
            <a:r>
              <a:t>5. Approval Digital &amp; Upload Dokumen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B5563"/>
                </a:solidFill>
                <a:latin typeface="Arial"/>
              </a:defRPr>
            </a:pPr>
            <a:r>
              <a:t>• Researcher mengunggah evidence/dokumen lampiran secara multi-file.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B5563"/>
                </a:solidFill>
                <a:latin typeface="Arial"/>
              </a:defRPr>
            </a:pPr>
            <a:r>
              <a:t>• Atasan melihat Card Approval yang menunjukkan selisih angka (misal: 30% ➔ 50%) dan bisa menolak dengan catatan (Modal Reject).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7187E"/>
                </a:solidFill>
                <a:latin typeface="Arial"/>
              </a:defRPr>
            </a:pPr>
            <a:r>
              <a:t>PERURI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 i="0">
                <a:solidFill>
                  <a:srgbClr val="27187E"/>
                </a:solidFill>
                <a:latin typeface="Arial"/>
              </a:defRPr>
            </a:pPr>
            <a:r>
              <a:t>IAKA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 i="0">
                <a:solidFill>
                  <a:srgbClr val="27187E"/>
                </a:solidFill>
                <a:latin typeface="Arial"/>
              </a:defRPr>
            </a:pPr>
            <a:r>
              <a:t>INNOVATION &amp; KAIZEN AWARD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005840"/>
            <a:ext cx="822960" cy="822960"/>
          </a:xfrm>
          <a:prstGeom prst="ellipse">
            <a:avLst/>
          </a:prstGeom>
          <a:solidFill>
            <a:srgbClr val="752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27187E"/>
                </a:solidFill>
                <a:latin typeface="Arial"/>
              </a:defRPr>
            </a:pPr>
            <a:r>
              <a:t>Solusi (4/5) — Fitur &amp; Tech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1">
                <a:solidFill>
                  <a:srgbClr val="752BBE"/>
                </a:solidFill>
                <a:latin typeface="Arial"/>
              </a:defRPr>
            </a:pPr>
            <a:r>
              <a:t>Tujuan bagian ini: Jelaskan solusi yang logis dan cukup sederhana untuk diuji skala kecil.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10698480" cy="4114800"/>
          </a:xfrm>
          <a:prstGeom prst="roundRect">
            <a:avLst>
              <a:gd name="adj" fmla="val 5000"/>
            </a:avLst>
          </a:prstGeom>
          <a:solidFill>
            <a:srgbClr val="F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752BBE"/>
                </a:solidFill>
                <a:latin typeface="Arial"/>
              </a:defRPr>
            </a:pPr>
            <a:r>
              <a:t>Yang harus disampaikan (Berdasarkan Data AIMON)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43200"/>
            <a:ext cx="10149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27187E"/>
                </a:solidFill>
                <a:latin typeface="Arial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27187E"/>
                </a:solidFill>
                <a:latin typeface="Arial"/>
              </a:defRPr>
            </a:pPr>
            <a:r>
              <a:t>6. In-App Chat Real-time &amp; Notifikasi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B5563"/>
                </a:solidFill>
                <a:latin typeface="Arial"/>
              </a:defRPr>
            </a:pPr>
            <a:r>
              <a:t>• Chat 1-on-1 dengan integrasi WebSocket. Memberikan 'Optimistic UI' di mana pesan langsung tampil seperti WhatsApp tanpa lag.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B5563"/>
                </a:solidFill>
                <a:latin typeface="Arial"/>
              </a:defRPr>
            </a:pPr>
            <a:r>
              <a:t>• Event notification dipancarkan, semua dashboard pengguna tersinkronisasi.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20624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27187E"/>
                </a:solidFill>
                <a:latin typeface="Arial"/>
              </a:defRPr>
            </a:pPr>
            <a:r>
              <a:t>Tech Stack yang Digunakan (Zero Cost):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005840" y="4663440"/>
          <a:ext cx="101498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5120640"/>
              </a:tblGrid>
              <a:tr h="2743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752BB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Teknologi Utama</a:t>
                      </a:r>
                    </a:p>
                  </a:txBody>
                  <a:tcPr>
                    <a:solidFill>
                      <a:srgbClr val="752BB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Fungsi dalam Sistem</a:t>
                      </a:r>
                    </a:p>
                  </a:txBody>
                  <a:tcPr>
                    <a:solidFill>
                      <a:srgbClr val="752BB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Frontend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Vanilla JS, CSS Variables, Chart.js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SPA (Single Page App) ringan, rendering Kurva-S, Dark Mode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Backend API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Node.js, Express, Socket.io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Pemrosesan data, Auth (JWT), WebSocket Broadcaster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PostgreSQL (via Supabase), Prisma 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Relasi 12 tabel, penyimpanan terpusat Cloud Gratis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Deployment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Cloudflare Tunnel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Mengekspos aplikasi ke internet publik dengan HTTPS aman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7187E"/>
                </a:solidFill>
                <a:latin typeface="Arial"/>
              </a:defRPr>
            </a:pPr>
            <a:r>
              <a:t>PERURI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 i="0">
                <a:solidFill>
                  <a:srgbClr val="27187E"/>
                </a:solidFill>
                <a:latin typeface="Arial"/>
              </a:defRPr>
            </a:pPr>
            <a:r>
              <a:t>IAKA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 i="0">
                <a:solidFill>
                  <a:srgbClr val="27187E"/>
                </a:solidFill>
                <a:latin typeface="Arial"/>
              </a:defRPr>
            </a:pPr>
            <a:r>
              <a:t>INNOVATION &amp; KAIZEN AWARD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005840"/>
            <a:ext cx="822960" cy="822960"/>
          </a:xfrm>
          <a:prstGeom prst="ellipse">
            <a:avLst/>
          </a:prstGeom>
          <a:solidFill>
            <a:srgbClr val="752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27187E"/>
                </a:solidFill>
                <a:latin typeface="Arial"/>
              </a:defRPr>
            </a:pPr>
            <a:r>
              <a:t>Solusi (5/5) — Proses Before-After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1">
                <a:solidFill>
                  <a:srgbClr val="752BBE"/>
                </a:solidFill>
                <a:latin typeface="Arial"/>
              </a:defRPr>
            </a:pPr>
            <a:r>
              <a:t>Tujuan bagian ini: Jelaskan solusi yang logis dan cukup sederhana untuk diuji skala kecil.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10698480" cy="4114800"/>
          </a:xfrm>
          <a:prstGeom prst="roundRect">
            <a:avLst>
              <a:gd name="adj" fmla="val 5000"/>
            </a:avLst>
          </a:prstGeom>
          <a:solidFill>
            <a:srgbClr val="F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752BBE"/>
                </a:solidFill>
                <a:latin typeface="Arial"/>
              </a:defRPr>
            </a:pPr>
            <a:r>
              <a:t>Yang harus disampaikan (Berdasarkan Data AIMON)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27187E"/>
                </a:solidFill>
                <a:latin typeface="Arial"/>
              </a:defRPr>
            </a:pPr>
            <a:r>
              <a:t>Transformasi Alur Proses Kerja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005840" y="2926080"/>
          <a:ext cx="101498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114800"/>
                <a:gridCol w="4206240"/>
              </a:tblGrid>
              <a:tr h="2743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Aktivitas</a:t>
                      </a:r>
                    </a:p>
                  </a:txBody>
                  <a:tcPr>
                    <a:solidFill>
                      <a:srgbClr val="752BB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BEFORE (Manual)</a:t>
                      </a:r>
                    </a:p>
                  </a:txBody>
                  <a:tcPr>
                    <a:solidFill>
                      <a:srgbClr val="752BB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AFTER (AIMON)</a:t>
                      </a:r>
                    </a:p>
                  </a:txBody>
                  <a:tcPr>
                    <a:solidFill>
                      <a:srgbClr val="752BB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Input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Buka Excel lokal → ubah sel → simpan 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Form UI Update → ketik angka &amp; note → Submit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Monitoring Kadiv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Meminta Kadept kompilasi 9 file → delay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Buka Link AIMON → Dashboard tampil data saat itu juga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Render Kurva-S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Update SUMPRODUCT bulanan, format manual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Sistem auto-render Kurva-S saat diklik (detik)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Audit Riwayat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Sulit melacak siapa yang edit Excel bulan lalu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Setiap aktivitas ada log "Approval history" yang fix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005840" y="475488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27187E"/>
                </a:solidFill>
                <a:latin typeface="Arial"/>
              </a:defRPr>
            </a:pPr>
            <a:r>
              <a:t>Target Perbaikan &amp; Estimasi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005840" y="5120640"/>
          <a:ext cx="101498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  <a:gridCol w="2286000"/>
                <a:gridCol w="2834640"/>
              </a:tblGrid>
              <a:tr h="2743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Indikator</a:t>
                      </a:r>
                    </a:p>
                  </a:txBody>
                  <a:tcPr>
                    <a:solidFill>
                      <a:srgbClr val="752BB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Baseline Excel</a:t>
                      </a:r>
                    </a:p>
                  </a:txBody>
                  <a:tcPr>
                    <a:solidFill>
                      <a:srgbClr val="752BB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Target AIMON</a:t>
                      </a:r>
                    </a:p>
                  </a:txBody>
                  <a:tcPr>
                    <a:solidFill>
                      <a:srgbClr val="752BB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Tercapai?</a:t>
                      </a:r>
                    </a:p>
                  </a:txBody>
                  <a:tcPr>
                    <a:solidFill>
                      <a:srgbClr val="752BB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Waktu Rekap/Proyek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~30-45 menit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&lt; 5 menit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✅ Tercapai (via form otomatis)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Waktu Approval Data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1-3 Hari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Real-time (menit)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✅ Tercapai (via Notifikasi)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Waktu Render Kurva-S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Lama (Manual)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&lt; 1 detik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✅ Tercapai (Chart.js)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7187E"/>
                </a:solidFill>
                <a:latin typeface="Arial"/>
              </a:defRPr>
            </a:pPr>
            <a:r>
              <a:t>PERURI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 i="0">
                <a:solidFill>
                  <a:srgbClr val="27187E"/>
                </a:solidFill>
                <a:latin typeface="Arial"/>
              </a:defRPr>
            </a:pPr>
            <a:r>
              <a:t>IAKA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 i="0">
                <a:solidFill>
                  <a:srgbClr val="27187E"/>
                </a:solidFill>
                <a:latin typeface="Arial"/>
              </a:defRPr>
            </a:pPr>
            <a:r>
              <a:t>INNOVATION &amp; KAIZEN AWARD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005840"/>
            <a:ext cx="822960" cy="822960"/>
          </a:xfrm>
          <a:prstGeom prst="ellipse">
            <a:avLst/>
          </a:prstGeom>
          <a:solidFill>
            <a:srgbClr val="752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27187E"/>
                </a:solidFill>
                <a:latin typeface="Arial"/>
              </a:defRPr>
            </a:pPr>
            <a:r>
              <a:t>Implementasi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1">
                <a:solidFill>
                  <a:srgbClr val="752BBE"/>
                </a:solidFill>
                <a:latin typeface="Arial"/>
              </a:defRPr>
            </a:pPr>
            <a:r>
              <a:t>Tujuan bagian ini: Buktikan solusi benar-benar dijalankan dan hasilnya terukur.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10698480" cy="4114800"/>
          </a:xfrm>
          <a:prstGeom prst="roundRect">
            <a:avLst>
              <a:gd name="adj" fmla="val 5000"/>
            </a:avLst>
          </a:prstGeom>
          <a:solidFill>
            <a:srgbClr val="F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752BBE"/>
                </a:solidFill>
                <a:latin typeface="Arial"/>
              </a:defRPr>
            </a:pPr>
            <a:r>
              <a:t>Yang harus disampaikan (Berdasarkan Data AIMON)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43200"/>
            <a:ext cx="10149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27187E"/>
                </a:solidFill>
                <a:latin typeface="Arial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27187E"/>
                </a:solidFill>
                <a:latin typeface="Arial"/>
              </a:defRPr>
            </a:pPr>
            <a:r>
              <a:t>Periode Implementasi &amp; Lingkup Uji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• Waktu: Agustus 2026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• Lingkup: Departemen Research Currency &amp; Security Printing, Perum Peruri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• Metodologi: Menggunakan AI-Assisted Development (Kolaborasi dengan Google AI) yang memungkinkan siklus MVP selesai dalam waktu &lt; 2 minggu.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27187E"/>
                </a:solidFill>
                <a:latin typeface="Arial"/>
              </a:defRPr>
            </a:pPr>
            <a:r>
              <a:t>Status Komponen Fitur Utama: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B5563"/>
                </a:solidFill>
                <a:latin typeface="Arial"/>
              </a:defRPr>
            </a:pPr>
            <a:r>
              <a:t>✅ Login, Registrasi, dan Enkripsi Data — Tersambung ke database Cloud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B5563"/>
                </a:solidFill>
                <a:latin typeface="Arial"/>
              </a:defRPr>
            </a:pPr>
            <a:r>
              <a:t>✅ 9 Proyek Aktif Excel telah diinput penuh ke dalam database AIMON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B5563"/>
                </a:solidFill>
                <a:latin typeface="Arial"/>
              </a:defRPr>
            </a:pPr>
            <a:r>
              <a:t>✅ Dashboard Interaktif &amp; Kurva-S — Tampil sempurna (Plan vs Actual)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B5563"/>
                </a:solidFill>
                <a:latin typeface="Arial"/>
              </a:defRPr>
            </a:pPr>
            <a:r>
              <a:t>✅ Alur Approval Berjenjang &amp; File Upload — Berfungsi penuh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B5563"/>
                </a:solidFill>
                <a:latin typeface="Arial"/>
              </a:defRPr>
            </a:pPr>
            <a:r>
              <a:t>✅ In-App Chat Real-time &amp; Push Notification — Stabil &amp; Sinkron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B5563"/>
                </a:solidFill>
                <a:latin typeface="Arial"/>
              </a:defRPr>
            </a:pPr>
            <a:r>
              <a:t>✅ UI Modern — Dark Mode/Light Mode &amp; Desain Responsif Mobile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7187E"/>
                </a:solidFill>
                <a:latin typeface="Arial"/>
              </a:defRPr>
            </a:pPr>
            <a:r>
              <a:t>PERURI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 i="0">
                <a:solidFill>
                  <a:srgbClr val="27187E"/>
                </a:solidFill>
                <a:latin typeface="Arial"/>
              </a:defRPr>
            </a:pPr>
            <a:r>
              <a:t>IAKA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 i="0">
                <a:solidFill>
                  <a:srgbClr val="27187E"/>
                </a:solidFill>
                <a:latin typeface="Arial"/>
              </a:defRPr>
            </a:pPr>
            <a:r>
              <a:t>INNOVATION &amp; KAIZEN AWARD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005840"/>
            <a:ext cx="822960" cy="822960"/>
          </a:xfrm>
          <a:prstGeom prst="ellipse">
            <a:avLst/>
          </a:prstGeom>
          <a:solidFill>
            <a:srgbClr val="752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27187E"/>
                </a:solidFill>
                <a:latin typeface="Arial"/>
              </a:defRPr>
            </a:pPr>
            <a:r>
              <a:t>Implementasi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1">
                <a:solidFill>
                  <a:srgbClr val="752BBE"/>
                </a:solidFill>
                <a:latin typeface="Arial"/>
              </a:defRPr>
            </a:pPr>
            <a:r>
              <a:t>Tujuan bagian ini: Buktikan solusi benar-benar dijalankan dan hasilnya terukur.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10698480" cy="4114800"/>
          </a:xfrm>
          <a:prstGeom prst="roundRect">
            <a:avLst>
              <a:gd name="adj" fmla="val 5000"/>
            </a:avLst>
          </a:prstGeom>
          <a:solidFill>
            <a:srgbClr val="F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752BBE"/>
                </a:solidFill>
                <a:latin typeface="Arial"/>
              </a:defRPr>
            </a:pPr>
            <a:r>
              <a:t>Yang harus disampaikan (Berdasarkan Data AIMON)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5176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27187E"/>
                </a:solidFill>
                <a:latin typeface="Arial"/>
              </a:defRPr>
            </a:pPr>
            <a:r>
              <a:t>Kendala Implementasi &amp; Penanggulangan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005840" y="3108960"/>
          <a:ext cx="101498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6035040"/>
              </a:tblGrid>
              <a:tr h="27432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Kendala yang Dihadapi</a:t>
                      </a:r>
                    </a:p>
                  </a:txBody>
                  <a:tcPr>
                    <a:solidFill>
                      <a:srgbClr val="752BB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Solusi/Penanggulangan</a:t>
                      </a:r>
                    </a:p>
                  </a:txBody>
                  <a:tcPr>
                    <a:solidFill>
                      <a:srgbClr val="752BB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Pesan Chat telat muncul di layar pengirim (lag jaringan).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Penerapan "Optimistic UI" — pesan langsung di-render ke layar tanpa tunggu server, rekon silikasi dilakukan di background.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Approval atasan tidak langsung refresh di layar bawahan.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Penerapan Socket.io Event Broadcasting — server memancarkan sinyal ke semua laptop yang buka AIMON untuk me-refresh data tanpa tekan F5.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Web-app di laptop developer (localhost) tidak bisa diakses Kadiv.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Penggunaan Cloudflare Tunnel gratis untuk menciptakan URL publik HTTPS yang aman tanpa konfigurasi router kantor.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7187E"/>
                </a:solidFill>
                <a:latin typeface="Arial"/>
              </a:defRPr>
            </a:pPr>
            <a:r>
              <a:t>PERURI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 i="0">
                <a:solidFill>
                  <a:srgbClr val="27187E"/>
                </a:solidFill>
                <a:latin typeface="Arial"/>
              </a:defRPr>
            </a:pPr>
            <a:r>
              <a:t>IAKA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 i="0">
                <a:solidFill>
                  <a:srgbClr val="27187E"/>
                </a:solidFill>
                <a:latin typeface="Arial"/>
              </a:defRPr>
            </a:pPr>
            <a:r>
              <a:t>INNOVATION &amp; KAIZEN AWARD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005840"/>
            <a:ext cx="822960" cy="822960"/>
          </a:xfrm>
          <a:prstGeom prst="ellipse">
            <a:avLst/>
          </a:prstGeom>
          <a:solidFill>
            <a:srgbClr val="752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27187E"/>
                </a:solidFill>
                <a:latin typeface="Arial"/>
              </a:defRPr>
            </a:pPr>
            <a:r>
              <a:t>Dampak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1">
                <a:solidFill>
                  <a:srgbClr val="752BBE"/>
                </a:solidFill>
                <a:latin typeface="Arial"/>
              </a:defRPr>
            </a:pPr>
            <a:r>
              <a:t>Tujuan bagian ini: Sajikan dampak yang sudah tervalidasi — finansial dan non-finansial.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10698480" cy="4114800"/>
          </a:xfrm>
          <a:prstGeom prst="roundRect">
            <a:avLst>
              <a:gd name="adj" fmla="val 5000"/>
            </a:avLst>
          </a:prstGeom>
          <a:solidFill>
            <a:srgbClr val="F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752BBE"/>
                </a:solidFill>
                <a:latin typeface="Arial"/>
              </a:defRPr>
            </a:pPr>
            <a:r>
              <a:t>Yang harus disampaikan (Berdasarkan Data AIMON)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43200"/>
            <a:ext cx="10149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27187E"/>
                </a:solidFill>
                <a:latin typeface="Arial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27187E"/>
                </a:solidFill>
                <a:latin typeface="Arial"/>
              </a:defRPr>
            </a:pPr>
            <a:r>
              <a:t>Dampak Finansial (Estimasi Cost Saving Terukur)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752BBE"/>
                </a:solidFill>
                <a:latin typeface="Arial"/>
              </a:defRPr>
            </a:pPr>
            <a:r>
              <a:t>Penghematan Waktu (Efisiensi Jam Kerja):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• BEFORE: ~45 mnt x 9 proyek x 52 minggu = 351 jam/tahun.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• AFTER: ~5 mnt x 9 proyek x 52 minggu = 39 jam/tahun.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4B5563"/>
                </a:solidFill>
                <a:latin typeface="Arial"/>
              </a:defRPr>
            </a:pPr>
            <a:r>
              <a:t>• PENGHEMATAN: 312 jam kerja PIC diselamatkan per tahun.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• VALUE: 312 jam x (asumsi) Rp50.000/jam = Rp15.600.000 / tahun di satu departemen.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752BBE"/>
                </a:solidFill>
                <a:latin typeface="Arial"/>
              </a:defRPr>
            </a:pPr>
            <a:r>
              <a:t>Cost Avoidance Keterlambatan Proyek: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Dengan RAG indikator 🔴🟡🟢 real-time, deviasi proyek puluhan/ratusan juta (seperti proyek Mesin) bisa dideteksi pada hari ke-1, menghindari cost overrun.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1">
                <a:solidFill>
                  <a:srgbClr val="752BBE"/>
                </a:solidFill>
                <a:latin typeface="Arial"/>
              </a:defRPr>
            </a:pPr>
            <a:r>
              <a:t>Biaya &amp; Payback Period: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• Biaya Pengembangan &amp; Software: Rp 0 (Semua Open Source &amp; Supabase Free Tier).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4B5563"/>
                </a:solidFill>
                <a:latin typeface="Arial"/>
              </a:defRPr>
            </a:pPr>
            <a:r>
              <a:t>• Payback Period: &lt; 1 Bulan (Langsung terasa manfaat efisiensi waktunya).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7187E"/>
                </a:solidFill>
                <a:latin typeface="Arial"/>
              </a:defRPr>
            </a:pPr>
            <a:r>
              <a:t>PERURI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 i="0">
                <a:solidFill>
                  <a:srgbClr val="27187E"/>
                </a:solidFill>
                <a:latin typeface="Arial"/>
              </a:defRPr>
            </a:pPr>
            <a:r>
              <a:t>IAKA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 i="0">
                <a:solidFill>
                  <a:srgbClr val="27187E"/>
                </a:solidFill>
                <a:latin typeface="Arial"/>
              </a:defRPr>
            </a:pPr>
            <a:r>
              <a:t>INNOVATION &amp; KAIZEN AWARD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005840"/>
            <a:ext cx="822960" cy="822960"/>
          </a:xfrm>
          <a:prstGeom prst="ellipse">
            <a:avLst/>
          </a:prstGeom>
          <a:solidFill>
            <a:srgbClr val="752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27187E"/>
                </a:solidFill>
                <a:latin typeface="Arial"/>
              </a:defRPr>
            </a:pPr>
            <a:r>
              <a:t>Dampak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1">
                <a:solidFill>
                  <a:srgbClr val="752BBE"/>
                </a:solidFill>
                <a:latin typeface="Arial"/>
              </a:defRPr>
            </a:pPr>
            <a:r>
              <a:t>Tujuan bagian ini: Sajikan dampak yang sudah tervalidasi — finansial dan non-finansial.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10698480" cy="4114800"/>
          </a:xfrm>
          <a:prstGeom prst="roundRect">
            <a:avLst>
              <a:gd name="adj" fmla="val 5000"/>
            </a:avLst>
          </a:prstGeom>
          <a:solidFill>
            <a:srgbClr val="F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752BBE"/>
                </a:solidFill>
                <a:latin typeface="Arial"/>
              </a:defRPr>
            </a:pPr>
            <a:r>
              <a:t>Yang harus disampaikan (Berdasarkan Data AIMON)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43200"/>
            <a:ext cx="10149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27187E"/>
                </a:solidFill>
                <a:latin typeface="Arial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27187E"/>
                </a:solidFill>
                <a:latin typeface="Arial"/>
              </a:defRPr>
            </a:pPr>
            <a:r>
              <a:t>Dampak Non-Finansial Utama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• Mutu Keputusan (Management Quality): Kepala Divisi &amp; Kepala Departemen kini membuat keputusan berdasarkan data 0 hari (real-time), bukan data 2 minggu lalu.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• Kepuasan &amp; Kenyamanan: UI/UX modern (Animasi CSS, Dark Mode) mengurangi stres PIC saat mengurus laporan.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• Akuntabilitas / Audit: Histori approval tersimpan permanen. Tidak ada lagi sengketa data "Saya tidak pernah menyetujui progress tersebut."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27187E"/>
                </a:solidFill>
                <a:latin typeface="Arial"/>
              </a:defRPr>
            </a:pPr>
            <a:r>
              <a:t>Potensi Replikasi / Skalabilitas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• Arsitektur AIMON didesain modular dan terpisah (Frontend Javascript, API Backend Node.js, Database Cloud).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4B5563"/>
                </a:solidFill>
                <a:latin typeface="Arial"/>
              </a:defRPr>
            </a:pPr>
            <a:r>
              <a:t>• Artinya, sistem ini dapat di-copy dan direplikasi ke SELURUH Departemen R&amp;D lain di lingkungan Peruri hanya dalam waktu setup 1-2 minggu.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7187E"/>
                </a:solidFill>
                <a:latin typeface="Arial"/>
              </a:defRPr>
            </a:pPr>
            <a:r>
              <a:t>PERURI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 i="0">
                <a:solidFill>
                  <a:srgbClr val="27187E"/>
                </a:solidFill>
                <a:latin typeface="Arial"/>
              </a:defRPr>
            </a:pPr>
            <a:r>
              <a:t>IAKA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 i="0">
                <a:solidFill>
                  <a:srgbClr val="27187E"/>
                </a:solidFill>
                <a:latin typeface="Arial"/>
              </a:defRPr>
            </a:pPr>
            <a:r>
              <a:t>INNOVATION &amp; KAIZEN AWARD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005840"/>
            <a:ext cx="822960" cy="822960"/>
          </a:xfrm>
          <a:prstGeom prst="ellipse">
            <a:avLst/>
          </a:prstGeom>
          <a:solidFill>
            <a:srgbClr val="752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27187E"/>
                </a:solidFill>
                <a:latin typeface="Arial"/>
              </a:defRPr>
            </a:pPr>
            <a:r>
              <a:t>Sustainability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1">
                <a:solidFill>
                  <a:srgbClr val="752BBE"/>
                </a:solidFill>
                <a:latin typeface="Arial"/>
              </a:defRPr>
            </a:pPr>
            <a:r>
              <a:t>Tujuan bagian ini: Kunci cara kerja baru agar tidak bergantung pada ingatan atau satu orang.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10698480" cy="4114800"/>
          </a:xfrm>
          <a:prstGeom prst="roundRect">
            <a:avLst>
              <a:gd name="adj" fmla="val 5000"/>
            </a:avLst>
          </a:prstGeom>
          <a:solidFill>
            <a:srgbClr val="F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752BBE"/>
                </a:solidFill>
                <a:latin typeface="Arial"/>
              </a:defRPr>
            </a:pPr>
            <a:r>
              <a:t>Yang harus disampaikan (Berdasarkan Data AIMON)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43200"/>
            <a:ext cx="10149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27187E"/>
                </a:solidFill>
                <a:latin typeface="Arial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27187E"/>
                </a:solidFill>
                <a:latin typeface="Arial"/>
              </a:defRPr>
            </a:pPr>
            <a:r>
              <a:t>Rencana Penerbitan Dokumen Standar (SOP &amp; IK)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B5563"/>
                </a:solidFill>
                <a:latin typeface="Arial"/>
              </a:defRPr>
            </a:pPr>
            <a:r>
              <a:t>1. SOP Pengoperasian AIMON: Mencakup cara registrasi, navigasi dashboard, filter data, dan interpretasi Kurva-S.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B5563"/>
                </a:solidFill>
                <a:latin typeface="Arial"/>
              </a:defRPr>
            </a:pPr>
            <a:r>
              <a:t>2. IK Input Progress Proyek: Pedoman wajib bagi PIC untuk mengisi realisasi dan unggah bukti.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B5563"/>
                </a:solidFill>
                <a:latin typeface="Arial"/>
              </a:defRPr>
            </a:pPr>
            <a:r>
              <a:t>3. IK Review &amp; Approval: Panduan bagi Kasi untuk menginspeksi approval queue harian.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B5563"/>
                </a:solidFill>
                <a:latin typeface="Arial"/>
              </a:defRPr>
            </a:pPr>
            <a:r>
              <a:t>4. SOP IT &amp; Pemeliharaan: Manual backup database via Supabase dashboard.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27187E"/>
                </a:solidFill>
                <a:latin typeface="Arial"/>
              </a:defRPr>
            </a:pPr>
            <a:r>
              <a:t>Rencana Pelatihan (Transfer Knowledge)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B5563"/>
                </a:solidFill>
                <a:latin typeface="Arial"/>
              </a:defRPr>
            </a:pPr>
            <a:r>
              <a:t>• Tim Researcher / PIC (1 Jam): Simulasi input data &amp; fitur chat.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B5563"/>
                </a:solidFill>
                <a:latin typeface="Arial"/>
              </a:defRPr>
            </a:pPr>
            <a:r>
              <a:t>• Kasi / Kadept / Kadiv (1.5 Jam): Pembacaan Dashboard, RAG Analysis, &amp; eksekusi Approve/Reject.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B5563"/>
                </a:solidFill>
                <a:latin typeface="Arial"/>
              </a:defRPr>
            </a:pPr>
            <a:r>
              <a:t>• Tim IT BUMN (2 Jam): Penyerahan kode sumber (source code) dan walkthrough arsitektur tech-stack AIMON agar bisa dilanjutkan perawatannya.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7187E"/>
                </a:solidFill>
                <a:latin typeface="Arial"/>
              </a:defRPr>
            </a:pPr>
            <a:r>
              <a:t>PERURI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 i="0">
                <a:solidFill>
                  <a:srgbClr val="27187E"/>
                </a:solidFill>
                <a:latin typeface="Arial"/>
              </a:defRPr>
            </a:pPr>
            <a:r>
              <a:t>IAKA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 i="0">
                <a:solidFill>
                  <a:srgbClr val="27187E"/>
                </a:solidFill>
                <a:latin typeface="Arial"/>
              </a:defRPr>
            </a:pPr>
            <a:r>
              <a:t>INNOVATION &amp; KAIZEN AWARD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005840"/>
            <a:ext cx="822960" cy="822960"/>
          </a:xfrm>
          <a:prstGeom prst="ellipse">
            <a:avLst/>
          </a:prstGeom>
          <a:solidFill>
            <a:srgbClr val="752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27187E"/>
                </a:solidFill>
                <a:latin typeface="Arial"/>
              </a:defRPr>
            </a:pPr>
            <a:r>
              <a:t>Lesson Learned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1">
                <a:solidFill>
                  <a:srgbClr val="752BBE"/>
                </a:solidFill>
                <a:latin typeface="Arial"/>
              </a:defRPr>
            </a:pPr>
            <a:r>
              <a:t>Tujuan bagian ini: Bagikan pembelajaran agar inovasi/kaizen dapat direplikasi unit lain.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10698480" cy="4114800"/>
          </a:xfrm>
          <a:prstGeom prst="roundRect">
            <a:avLst>
              <a:gd name="adj" fmla="val 5000"/>
            </a:avLst>
          </a:prstGeom>
          <a:solidFill>
            <a:srgbClr val="F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752BBE"/>
                </a:solidFill>
                <a:latin typeface="Arial"/>
              </a:defRPr>
            </a:pPr>
            <a:r>
              <a:t>Yang harus disampaikan (Berdasarkan Data AIMON)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43200"/>
            <a:ext cx="10149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27187E"/>
                </a:solidFill>
                <a:latin typeface="Arial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27187E"/>
                </a:solidFill>
                <a:latin typeface="Arial"/>
              </a:defRPr>
            </a:pPr>
            <a:r>
              <a:t>Pembelajaran Fundamental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752BBE"/>
                </a:solidFill>
                <a:latin typeface="Arial"/>
              </a:defRPr>
            </a:pPr>
            <a:r>
              <a:t>1. Mitos Pengembangan Software Telah Runtuh: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Proyek digitalisasi kompleks yang dulu harus dilelang ke vendor luar dengan biaya ratusan juta selama berbulan-bulan, kini bisa dikembangkan SECARA MANDIRI oleh tim internal dalam waktu &lt; 2 minggu berkat kolaborasi dengan AI (AI-Assisted Development).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752BBE"/>
                </a:solidFill>
                <a:latin typeface="Arial"/>
              </a:defRPr>
            </a:pPr>
            <a:r>
              <a:t>2. Kekuatan Sinkronisasi Real-Time: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Mengandalkan Excel dan polling manual telah mematikan kelincahan (agility) operasional. Fitur WebSocket/Socket.io terbukti krusial untuk manajemen modern.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27187E"/>
                </a:solidFill>
                <a:latin typeface="Arial"/>
              </a:defRPr>
            </a:pPr>
            <a:r>
              <a:t>Rekomendasi Pengembangan Lanjutan (Roadmap AIMON 2.0)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• AI Predictive Analytics: Membaca histori progress dari AIMON 1.0 untuk memprediksi proyek mana yang berisiko terlambat bulan depan.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• Ekspor PDF/Excel Laporan Otomatis dengan 1 klik.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• Integrasi Email Corporate (Notifikasi approval mendesak via email).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52C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563A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Arial"/>
              </a:defRPr>
            </a:pPr>
            <a:r>
              <a:t>PERURI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 i="0">
                <a:solidFill>
                  <a:srgbClr val="FFFFFF"/>
                </a:solidFill>
                <a:latin typeface="Arial"/>
              </a:defRPr>
            </a:pPr>
            <a:r>
              <a:t>IAKA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 i="0">
                <a:solidFill>
                  <a:srgbClr val="FFFFFF"/>
                </a:solidFill>
                <a:latin typeface="Arial"/>
              </a:defRPr>
            </a:pPr>
            <a:r>
              <a:t>INNOVATION &amp; KAIZEN AWARD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 i="0">
                <a:solidFill>
                  <a:srgbClr val="FFFFFF"/>
                </a:solidFill>
                <a:latin typeface="Arial"/>
              </a:defRPr>
            </a:pPr>
            <a:r>
              <a:t>TERIMA KASIH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C8C8FF"/>
                </a:solidFill>
                <a:latin typeface="Arial"/>
              </a:defRPr>
            </a:pPr>
            <a:r>
              <a:t>AIMON: Kolaborasi AI dan Inovasi BUMN</a:t>
            </a:r>
            <a:br/>
            <a:r>
              <a:t>Perum Peruri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