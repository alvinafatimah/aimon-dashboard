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0" y="1371600"/>
            <a:ext cx="1645920" cy="1645920"/>
          </a:xfrm>
          <a:prstGeom prst="roundRect">
            <a:avLst/>
          </a:prstGeom>
          <a:solidFill>
            <a:srgbClr val="2D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400"/>
              </a:spcBef>
              <a:defRPr sz="2800" b="1">
                <a:solidFill>
                  <a:srgbClr val="D946C7"/>
                </a:solidFill>
                <a:latin typeface="Calibri"/>
              </a:defRPr>
            </a:pPr>
            <a:r>
              <a:t>AIMON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Optimasi System Monitoring Project Menggunakan AI</a:t>
            </a:r>
            <a:br/>
            <a:r>
              <a:t>untuk Memudahkan Evaluasi dan Meningkatkan Kinerja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946C7"/>
                </a:solidFill>
                <a:latin typeface="Calibri"/>
              </a:defRPr>
            </a:pPr>
            <a:r>
              <a:t>AI Monitoring for Optimization and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029200"/>
            <a:ext cx="2286000" cy="25400"/>
          </a:xfrm>
          <a:prstGeom prst="rect">
            <a:avLst/>
          </a:prstGeom>
          <a:solidFill>
            <a:srgbClr val="4D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D0"/>
                </a:solidFill>
                <a:latin typeface="Calibri"/>
              </a:defRPr>
            </a:pPr>
            <a:r>
              <a:t>Departemen Research Currency &amp; Security Printing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760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A89BB"/>
                </a:solidFill>
                <a:latin typeface="Calibri"/>
              </a:defRPr>
            </a:pPr>
            <a:r>
              <a:t>PERUM PERURI • IAKA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0" cy="109728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D0"/>
                </a:solidFill>
                <a:latin typeface="Calibri"/>
              </a:defRPr>
            </a:pPr>
            <a:r>
              <a:t>Kondisi saat ini, mengapa penting, dan data awal yang memicu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943600"/>
            <a:ext cx="10058400" cy="12700"/>
          </a:xfrm>
          <a:prstGeom prst="rect">
            <a:avLst/>
          </a:prstGeom>
          <a:solidFill>
            <a:srgbClr val="3D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AA"/>
                </a:solidFill>
                <a:latin typeface="Calibri"/>
              </a:defRPr>
            </a:pPr>
            <a:r>
              <a:t>AIMON — AI Monitoring for Optimization and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AA"/>
                </a:solidFill>
                <a:latin typeface="Calibri"/>
              </a:defRPr>
            </a:pPr>
            <a:r>
              <a:t>Dept. Research Currency &amp; Security Printing — Perum Peruri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Kondisi Saat Ini — Monitoring Manual dengan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01 LATAR BELAKANG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Departemen Research Currency &amp; Security Printing menangani 9 proyek riset aktif (Semester II/2026), total capaian 39,49%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Seluruh monitoring dilakukan manual menggunakan Microsoft Excel — setiap proyek memiliki 1 file Excel terpisah dengan struktur kompleks: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Minimal 5 sheet per file: Kurva S, Main Dashboard, Parameter, Sheet Kerja, Kurva S Mingguan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Setiap Main Dashboard mencatat 30+ baris aktivitas (Code, Tahapan, Aktivitas, Status, Bobot, Target, Nilai, Realisasi, Tanggal)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Kurva-S dihitung menggunakan formula SUMPRODUCT &amp; SUMIFS yang kompleks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Gantt Chart disusun manual dengan pewarnaan sel satu per satu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9 proyek aktif = 9 file Excel terpisah = 45 sheet yang harus dibuka, diperbarui, dan dikompilasi satu per satu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Alur update: Buka Excel → Cari aktivitas → Input nilai → Cek formula Kurva-S → Simpan → Kirim via email/WA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Kepala Departemen &amp; Kepala Divisi TIDAK BISA melihat progress secara langsung — harus menunggu laporan atau bertanya manual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Mengapa Ini Penting bagi Operasional Perusahaan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01 LATAR BELAKANG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Departemen R&amp;D adalah ujung tombak inovasi Peruri — menangani proyek strategis bernilai tinggi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Terbagi dalam 2 program kerja: OMTI (Proyek Inti, progress 44,94%) dan Non-OMTI/PM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Setiap proyek memiliki 9 fase bertingkat dengan bobot berbeda (total harus = 100%)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Contoh: Data Collecting 15%, Flow Process Mapping 15%, Piloting SNI 15%, Gap Analysis 10%, dll.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Keterlambatan di satu fase bisa menggagalkan timeline keseluruhan proyek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EF4444"/>
                </a:solidFill>
                <a:latin typeface="Calibri"/>
              </a:defRPr>
            </a:pPr>
            <a:r>
              <a:t>KELUHAN NYATA dari Kepala Divisi: tidak bisa memantau progress langsung, harus bertanya manual ke Kepala Departemen/Kepala Seksi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2560320" cy="164592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Total Capaian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2559"/>
                </a:solidFill>
                <a:latin typeface="Calibri"/>
              </a:defRPr>
            </a:pPr>
            <a:r>
              <a:t>39,49%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Data Agustus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114800"/>
            <a:ext cx="2560320" cy="164592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Progress OMTI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617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946C7"/>
                </a:solidFill>
                <a:latin typeface="Calibri"/>
              </a:defRPr>
            </a:pPr>
            <a:r>
              <a:t>44,94%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Data Agustus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2560320" cy="164592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Realisasi Anggaran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17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Calibri"/>
              </a:defRPr>
            </a:pPr>
            <a:r>
              <a:t>6,90%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Data Agustus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4114800"/>
            <a:ext cx="2560320" cy="164592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Proyek Aktif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617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Data Agustus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9 Proyek Aktif yang Dipantau (Data Riil Agustus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01 LATAR BELAKANG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97280"/>
          <a:ext cx="9326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0"/>
                <a:gridCol w="109728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Nama Proyek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Riset Kemasan Uang Kertas (Uji Remise)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OMTI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Kajian Implementasi 100% Banknote Inspection (Sortir Machine)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OMTI 2026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Uji Coba Sistem Proses &amp; Prototype Polycarbonate Datapage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OMTI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Riset &amp; Pengembangan Prototype Mesin Security Features (Planchette)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27,7%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OMTI 2026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Riset Substitusi Material Bahan Pembuatan Roll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35,4%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OMTI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Riset Mekanisasi Packaging Uang Kertas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Riset Traceability Uang Kertas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29,8%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PM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Uji Coba Cetak Kertas End Paper Passport PT Kertas Padalarang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Peningkatan Pengetahuan &amp; Kompetensi SDM RDCSprinsol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Estimasi Waktu Rekap Manual (Berdasarkan Kompleksitas Excel)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01 LATAR BELAKANG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97280"/>
          <a:ext cx="10972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54864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Kegiatan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Estimasi Waktu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Update 1 proyek (1 file Excel)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~30–45 menit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Buka file → update nilai → cek Kurva-S → Gantt → kirim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Kompilasi 9 proyek per minggu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~4,5–6,5 jam/minggu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 file × 30-45 menit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Kadept compile summary → Kadiv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~1–2 jam tambahan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Buka 9 file → salin realisasi → buat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Total waktu admin/minggu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~5,5–8,5 jam/minggu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Seluruh departemen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Keterlambatan deteksi deviasi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1–2 minggu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Karena siklus pelaporan periodik &amp;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114800"/>
            <a:ext cx="10881360" cy="1371600"/>
          </a:xfrm>
          <a:prstGeom prst="roundRect">
            <a:avLst/>
          </a:prstGeom>
          <a:solidFill>
            <a:srgbClr val="F5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⚠️  Catatan: Semua estimasi waktu di atas dihitung berdasarkan kompleksitas aktual file Excel yang digunakan (5 sheet, 30+ baris aktivitas, formula SUMPRODUCT/SUMIFS). Data jumlah proyek (9) dan progress adalah data riil per Agustus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0" cy="109728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D0"/>
                </a:solidFill>
                <a:latin typeface="Calibri"/>
              </a:defRPr>
            </a:pPr>
            <a:r>
              <a:t>Permasalahan operasional nyata dan terukur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943600"/>
            <a:ext cx="10058400" cy="12700"/>
          </a:xfrm>
          <a:prstGeom prst="rect">
            <a:avLst/>
          </a:prstGeom>
          <a:solidFill>
            <a:srgbClr val="3D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AA"/>
                </a:solidFill>
                <a:latin typeface="Calibri"/>
              </a:defRPr>
            </a:pPr>
            <a:r>
              <a:t>AIMON — AI Monitoring for Optimization and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AA"/>
                </a:solidFill>
                <a:latin typeface="Calibri"/>
              </a:defRPr>
            </a:pPr>
            <a:r>
              <a:t>Dept. Research Currency &amp; Security Printing — Perum Peruri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Pernyataan Masalah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02 MASALAH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97280"/>
          <a:ext cx="10058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0"/>
                <a:gridCol w="32004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Masalah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Dampak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Kepala Divisi tidak bisa memantau progress langsung — harus bertanya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Keluhan nyata dari Kadiv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 file Excel terpisah dikelola manual (5 sheet × 30+ aktivitas per file)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9×5×30+ = ratusan sel data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Proses rekap sangat memakan waktu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~4,5–6,5 jam/minggu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Excel tidak bisa real-time untuk dilihat orang lain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 kedaluwarsa 1–2 minggu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Terlalu banyak file (9 file = 45 sheet)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Risiko hilang/corrupt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Pernyataan Masalah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02 MASALAH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97280"/>
          <a:ext cx="10058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Masalah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Dampak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Update terlalu manual — Kurva-S dari SUMPRODUCT, Gantt pewarnaan 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Rentan human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Tidak ada audit trail — riwayat perubahan tidak terekam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Tidak ada data historis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Komunikasi tersebar (WA, email, meeting offline)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Miskomunikasi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Tidak ada approval digital — validasi via lisan/WA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Approval bottleneck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Baseline Permasalahan &amp; Dampak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02 MASALAH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9728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Indikator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Nilai Baseline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Sumber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Jumlah file 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 file (masing-masing 5 sheet)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 aktual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Jumlah proyek aktif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 proyek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 aktual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Total capaian departemen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39,49%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Summary Agustus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Waktu update 1 proyek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~30–45 menit [Estimasi]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Kompleksitas Excel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Waktu rekap mingguan (9 proyek)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~4,5–6,5 jam/minggu [Estimasi]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Kalkulasi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Waktu proses approval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1–3 hari [Estimasi]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Manual via WA/email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Deteksi deviasi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1–2 minggu [Estimasi]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Siklus pelaporan periodik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Keluhan manajemen atas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Ada — Kadiv tidak bisa monitor langsung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Keluhan nyata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0" cy="109728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ANALISIS PENYEBAB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D0"/>
                </a:solidFill>
                <a:latin typeface="Calibri"/>
              </a:defRPr>
            </a:pPr>
            <a:r>
              <a:t>Akar masalah menggunakan metode 5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943600"/>
            <a:ext cx="10058400" cy="12700"/>
          </a:xfrm>
          <a:prstGeom prst="rect">
            <a:avLst/>
          </a:prstGeom>
          <a:solidFill>
            <a:srgbClr val="3D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AA"/>
                </a:solidFill>
                <a:latin typeface="Calibri"/>
              </a:defRPr>
            </a:pPr>
            <a:r>
              <a:t>AIMON — AI Monitoring for Optimization and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AA"/>
                </a:solidFill>
                <a:latin typeface="Calibri"/>
              </a:defRPr>
            </a:pPr>
            <a:r>
              <a:t>Dept. Research Currency &amp; Security Printing — Perum Peruri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Analisis 5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03 ANALISIS PENYEBAB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10881360" cy="91440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43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46C7"/>
                </a:solidFill>
                <a:latin typeface="Calibri"/>
              </a:defRPr>
            </a:pPr>
            <a:r>
              <a:t>WHY 1: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559"/>
                </a:solidFill>
                <a:latin typeface="Calibri"/>
              </a:defRPr>
            </a:pPr>
            <a:r>
              <a:t>Mengapa monitoring proyek lambat?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→ Karena data progress tersebar di 9 file Excel individual milik masing-masing PIC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03120"/>
            <a:ext cx="10881360" cy="91440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46C7"/>
                </a:solidFill>
                <a:latin typeface="Calibri"/>
              </a:defRPr>
            </a:pPr>
            <a:r>
              <a:t>WHY 2: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559"/>
                </a:solidFill>
                <a:latin typeface="Calibri"/>
              </a:defRPr>
            </a:pPr>
            <a:r>
              <a:t>Mengapa data tersebar di banyak file?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→ Karena tidak ada sistem terpusat (single source of truth)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10881360" cy="91440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46C7"/>
                </a:solidFill>
                <a:latin typeface="Calibri"/>
              </a:defRPr>
            </a:pPr>
            <a:r>
              <a:t>WHY 3: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154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559"/>
                </a:solidFill>
                <a:latin typeface="Calibri"/>
              </a:defRPr>
            </a:pPr>
            <a:r>
              <a:t>Mengapa tidak ada sistem terpusat?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→ Karena departemen belum memiliki platform digital monitoring terintegrasi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10881360" cy="91440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46C7"/>
                </a:solidFill>
                <a:latin typeface="Calibri"/>
              </a:defRPr>
            </a:pPr>
            <a:r>
              <a:t>WHY 4: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160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559"/>
                </a:solidFill>
                <a:latin typeface="Calibri"/>
              </a:defRPr>
            </a:pPr>
            <a:r>
              <a:t>Mengapa belum memiliki platform digital?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→ Karena solusi komersial (MS Project, Jira) mahal &amp; tidak fit dengan kebutuhan R&amp;D Peruri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20640"/>
            <a:ext cx="10881360" cy="91440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46C7"/>
                </a:solidFill>
                <a:latin typeface="Calibri"/>
              </a:defRPr>
            </a:pPr>
            <a:r>
              <a:t>WHY 5: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166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559"/>
                </a:solidFill>
                <a:latin typeface="Calibri"/>
              </a:defRPr>
            </a:pPr>
            <a:r>
              <a:t>Mengapa tidak membangun sendiri?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→ Karena keterbatasan resource — PADAHAL dengan AI, bisa dibangun secara akseleratif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6217920"/>
            <a:ext cx="10881360" cy="640080"/>
          </a:xfrm>
          <a:prstGeom prst="round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309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AKAR MASALAH: Tidak ada platform monitoring digital terpusat yang dirancang sesuai kebutuhan R&amp;D Peruri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0" cy="109728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SOLUSI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D0"/>
                </a:solidFill>
                <a:latin typeface="Calibri"/>
              </a:defRPr>
            </a:pPr>
            <a:r>
              <a:t>Konsep, fitur lengkap, tech stack, alur data, dan kebaruan AIMON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943600"/>
            <a:ext cx="10058400" cy="12700"/>
          </a:xfrm>
          <a:prstGeom prst="rect">
            <a:avLst/>
          </a:prstGeom>
          <a:solidFill>
            <a:srgbClr val="3D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AA"/>
                </a:solidFill>
                <a:latin typeface="Calibri"/>
              </a:defRPr>
            </a:pPr>
            <a:r>
              <a:t>AIMON — AI Monitoring for Optimization and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AA"/>
                </a:solidFill>
                <a:latin typeface="Calibri"/>
              </a:defRPr>
            </a:pPr>
            <a:r>
              <a:t>Dept. Research Currency &amp; Security Printing — Perum Peruri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Konsep &amp; Mekanisme Kerja AIMON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04 SOLUSI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AIMON (AI Monitoring for Optimization and Navigation) adalah platform web-based monitoring proyek R&amp;D yang dibangun khusus untuk Dept. Research Currency &amp; Security Printing, Perum Peruri.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011680"/>
          <a:ext cx="10972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0292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Akar Masalah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Solusi AIMON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Mekanisme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 tersebar di banyak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Single Source of Truth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Database PostgreSQL (Supabase) terpusat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Tidak ada notifikasi otomatis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Real-time Push via WebSocket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Socket.io — atasan langsung terima notif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Approval manual (WA/email)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Approval Queue Digital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Submit → Approve/Reject → auto-update nilai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Format tidak standar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Kurva-S &amp; Dashboard otomatis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Chart.js auto-render, format seragam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Komunikasi tercecer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In-App Chat 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Chat tersimpan di database, sinkron antar perangkat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Deteksi deviasi lambat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RAG Indicator (Red-Amber-Green)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Algoritma otomatis Plan vs Actual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Fitur Lengkap AIMON (1/3) — Autentikasi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04 SOLUSI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559"/>
                </a:solidFill>
                <a:latin typeface="Calibri"/>
              </a:defRPr>
            </a:pPr>
            <a:r>
              <a:t>🔐 Autentikasi &amp; Otorisasi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Login JWT (JSON Web Token) + bcrypt password hashing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7 level Role-Based Access Control (RBAC)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Self-Registration dengan approval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559"/>
                </a:solidFill>
                <a:latin typeface="Calibri"/>
              </a:defRPr>
            </a:pPr>
            <a:r>
              <a:t>📊 Dashboard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Program Card OMTI &amp; Non-OMTI (jumlah proyek + rata-rata progress)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5 Stat Cards interaktif: Total, Selesai, On Progress, Terlambat, Pending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Drilldown click — klik card untuk melihat detail proyek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Filter Seksi &amp; Kategori + Global Search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Kurva-S Overview Departemen (Plan vs Actual, bulanan/mingguan)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Today Line Plugin (garis "Hari Ini" pada grafik)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559"/>
                </a:solidFill>
                <a:latin typeface="Calibri"/>
              </a:defRPr>
            </a:pPr>
            <a:r>
              <a:t>📋 Manajemen Proyek (CRUD)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Create Project dengan tahapan &amp; aktivitas dinamis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Validasi total bobot = 100%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Save as Draft / Submit for Approval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Delete Project (role-restricted)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559"/>
                </a:solidFill>
                <a:latin typeface="Calibri"/>
              </a:defRPr>
            </a:pPr>
            <a:r>
              <a:t>📈 Detail Proyek &amp;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661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Ringkasan Tahapan (bobot, realisasi, progress, status)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Progress per Aktivitas dengan progress bar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Gantt Chart (Timeline Mingguan)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RAG Indicator 🔴🟡🟢 otomatis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Kurva-S per proyek (bulanan/mingguan)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Fitur Lengkap AIMON (2/3) — Approval, Chat, Dokumen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04 SOLUSI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559"/>
                </a:solidFill>
                <a:latin typeface="Calibri"/>
              </a:defRPr>
            </a:pPr>
            <a:r>
              <a:t>✅ Sistem Approval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Researcher submit update → masuk Approval Queue atasan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Approval card: old_nilai → new_nilai + catatan + lampiran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Approve = nilai otomatis terupdate di database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Reject = modal catatan penolakan tersimpan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Real-time notification via Socket.io ke semua client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Audit trail lengkap (siapa, kapan, nilai lama → baru)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559"/>
                </a:solidFill>
                <a:latin typeface="Calibri"/>
              </a:defRPr>
            </a:pPr>
            <a:r>
              <a:t>💬 In-App Chat Real-time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Direct Message 1-on-1 antar semua user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Real-time via WebSocket (Socket.io)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Optimistic UI — pesan langsung muncul (seperti WhatsApp)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Read Receipt &amp; Unread Badge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Sorting kontak by last message (terbaru di atas)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Chat FAB (Floating Action Button) di setiap halaman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559"/>
                </a:solidFill>
                <a:latin typeface="Calibri"/>
              </a:defRPr>
            </a:pPr>
            <a:r>
              <a:t>📎 Upload &amp; Manajemen Dokumen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Multi-file upload saat submit update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View &amp; Download langsung di browser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Storage di server dengan naming convention aman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389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559"/>
                </a:solidFill>
                <a:latin typeface="Calibri"/>
              </a:defRPr>
            </a:pPr>
            <a:r>
              <a:t>🎨 Tema &amp; Aksesibilitas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7548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Dark Mode &amp; Light Mode (auto-detect OS)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Design System: 75+ CSS token, 100+ komponen UI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Responsive (mobile-friendly)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Toast notification (success, error, warning, info)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Tech Stack Lengkap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04 SOLUSI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97280"/>
          <a:ext cx="109728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1371600"/>
                <a:gridCol w="50292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Teknologi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Fungsi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Vanilla JavaScript (SPA)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ES2022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Single Page App — ringan &amp; cepat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UI Chart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Chart.js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4.4.4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Visualisasi Kurva-S (Plan vs Actual)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Socket.io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WebSocket untuk chat &amp; notification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Styling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Custom CSS Design System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75+ design token, dark/light mode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Node.js + Express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RESTful API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ORM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Prisma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7.9.1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Object-Relational Mapping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PostgreSQL (Supabase)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Cloud database terpusat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JWT + bcrypt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9.0.3 / 6.0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Autentikasi &amp; password hashing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Upload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Multer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2.2.0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Middleware upload dokumen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WebSocket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Socket.io Server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4.8.3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Real-time bidirectional comm.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Cloudflare Tunnel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HTTPS tunneling ke internet publik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Alur Data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04 SOLUSI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10881360" cy="68580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207008"/>
            <a:ext cx="457200" cy="457200"/>
          </a:xfrm>
          <a:prstGeom prst="round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170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46C7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1704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User login → Backend verifikasi (bcrypt) → Generate JWT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847088"/>
            <a:ext cx="10881360" cy="68580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956816"/>
            <a:ext cx="457200" cy="457200"/>
          </a:xfrm>
          <a:prstGeom prst="round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46C7"/>
                </a:solidFill>
                <a:latin typeface="Calibri"/>
              </a:defRPr>
            </a:pPr>
            <a:r>
              <a:t>Fetch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920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Frontend request ke /api/projects, /api/approvals, /api/chat, /api/users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596896"/>
            <a:ext cx="10881360" cy="68580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706624"/>
            <a:ext cx="457200" cy="457200"/>
          </a:xfrm>
          <a:prstGeom prst="round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46C7"/>
                </a:solidFill>
                <a:latin typeface="Calibri"/>
              </a:defRPr>
            </a:pPr>
            <a:r>
              <a:t>Database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6700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Backend query PostgreSQL (Supabase) via Prisma ORM → Return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46704"/>
            <a:ext cx="10881360" cy="68580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456432"/>
            <a:ext cx="457200" cy="457200"/>
          </a:xfrm>
          <a:prstGeom prst="round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4198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46C7"/>
                </a:solidFill>
                <a:latin typeface="Calibri"/>
              </a:defRPr>
            </a:pPr>
            <a:r>
              <a:t>Render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41985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AppStore menerima data → Render Dashboard (Chart.js, tabel, stat cards)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96512"/>
            <a:ext cx="10881360" cy="68580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4206240"/>
            <a:ext cx="457200" cy="457200"/>
          </a:xfrm>
          <a:prstGeom prst="round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169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46C7"/>
                </a:solidFill>
                <a:latin typeface="Calibri"/>
              </a:defRPr>
            </a:pPr>
            <a:r>
              <a:t>Submit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16966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Researcher submit progress → POST /api/approvals + upload file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46320"/>
            <a:ext cx="10881360" cy="68580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4956048"/>
            <a:ext cx="457200" cy="457200"/>
          </a:xfrm>
          <a:prstGeom prst="round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919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46C7"/>
                </a:solidFill>
                <a:latin typeface="Calibri"/>
              </a:defRPr>
            </a:pPr>
            <a:r>
              <a:t>Real-time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9194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Backend → Socket.io emit 'approval_update' → Semua client refresh otomatis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596128"/>
            <a:ext cx="10881360" cy="68580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5705856"/>
            <a:ext cx="457200" cy="457200"/>
          </a:xfrm>
          <a:prstGeom prst="round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46C7"/>
                </a:solidFill>
                <a:latin typeface="Calibri"/>
              </a:defRPr>
            </a:pPr>
            <a:r>
              <a:t>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669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Atasan klik Approve → POST /api/approvals/:id/review → Nilai terupdate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Alur Proses: Before →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04 SOLUSI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9728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0"/>
                <a:gridCol w="45720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Aspek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BEFORE (Manual Excel)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(AIMON)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Input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Buka Excel → cari file → input → simpan → kirim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Klik "Update" → input nilai → upload doc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Approval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Baca email → buka Excel → cek → balas WA "OK/Revisi"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Notif real-time → Approval Queue → 1-klik Approve/Reject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Lihat overview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Tunggu kompilasi 9 file dari Kasi → buka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Buka AIMON → Dashboard langsung tampil semua proyek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Kurva-S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Buat manual di Excel (SUMPRODUCT) → format chart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Otomatis ter-generate → switch bulanan/mingguan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Deteksi deviasi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Tunggu laporan periodik → delay 1–2 minggu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RAG indicator 🔴🟡🟢 real-time otomatis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Komunikasi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WA grup / email / meeting offline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In-App Chat → riwayat tersimpan di database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Tidak ada riwayat perubahan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Terekam: siapa, kapan, nilai lama → baru, dokumen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Target Perbaikan &amp; Estimasi Dampak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04 SOLUSI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97280"/>
          <a:ext cx="10972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(Estimasi)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(Estimasi)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Metode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Waktu rekap per proyek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~30–45 menit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~5 menit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Input via form + auto-calculation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Waktu proses approval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1–3 hari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&lt; 1 jam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Real-time notification + 1-click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Deteksi deviasi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1–2 minggu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Real-time (0 hari)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RAG indicator + WebSocket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Revisi laporan/bulan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2–3 kali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 kali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Format standar otomatis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Generate Kurva-S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~30 menit (manual)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&lt; 1 detik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Chart.js auto-render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0" cy="109728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IMPLEMENTASI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D0"/>
                </a:solidFill>
                <a:latin typeface="Calibri"/>
              </a:defRPr>
            </a:pPr>
            <a:r>
              <a:t>Lingkup uji, kendala teknis, dan perbandingan realisasi vs rencana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943600"/>
            <a:ext cx="10058400" cy="12700"/>
          </a:xfrm>
          <a:prstGeom prst="rect">
            <a:avLst/>
          </a:prstGeom>
          <a:solidFill>
            <a:srgbClr val="3D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AA"/>
                </a:solidFill>
                <a:latin typeface="Calibri"/>
              </a:defRPr>
            </a:pPr>
            <a:r>
              <a:t>AIMON — AI Monitoring for Optimization and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AA"/>
                </a:solidFill>
                <a:latin typeface="Calibri"/>
              </a:defRPr>
            </a:pPr>
            <a:r>
              <a:t>Dept. Research Currency &amp; Security Printing — Perum Peruri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Status Implementasi Fitur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05 IMPLEMENTASI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0584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59436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Komponen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Login &amp; Registrasi (JWT + bcrypt)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Terintegrasi database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Dashboard Overview + Stat Cards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 real dari database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Kurva-S (Chart.js + Today 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Plan vs Actual, bulanan/mingguan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Manajemen Proyek (CRUD)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Create, Read, Delete ke database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Detail Proyek + Gantt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Ringkasan tahapan + timeline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Approval Queue + Review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Submit → Approve/Reject → auto-update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Upload &amp; Download Dokumen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Multer storage di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Chat Real-time (Socket.io)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Optimistic UI + database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Dark/Light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CSS design token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Role-Based Access (7 level)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Live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RBAC terintegrasi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Reports &amp;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🔄 Prototipe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UI siap, fungsionalitas dalam pengembangan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AI Predictive Analytics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📋 Roadmap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Prediksi keterlambatan dari historical data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Kendala Teknis &amp; Penanggulangannya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05 IMPLEMENTASI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05840"/>
          <a:ext cx="10972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59436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Kendala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Penanganan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Chat tidak sinkron antar perangkat (localStorage)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Migrasi penuh ke database PostgreSQL (Supabase)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Pesan tidak muncul di layar pengirim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Optimistic UI Rendering + clientId reconciliation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Approval tidak real-time di layar atasan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Socket.io event broadcasting (approval_update)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File upload tidak bisa dilihat/diunduh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Express static file serving + Multer endpoint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Reject tidak tampilkan catatan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Modal khusus reject dengan textarea → field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Dashboard hanya akses jaringan lokal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Cloudflare Tunnel — HTTPS gratis ke internet publik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0" cy="109728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DAMPAK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D0"/>
                </a:solidFill>
                <a:latin typeface="Calibri"/>
              </a:defRPr>
            </a:pPr>
            <a:r>
              <a:t>Dampak finansial dan non-finansial yang tervalidasi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943600"/>
            <a:ext cx="10058400" cy="12700"/>
          </a:xfrm>
          <a:prstGeom prst="rect">
            <a:avLst/>
          </a:prstGeom>
          <a:solidFill>
            <a:srgbClr val="3D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AA"/>
                </a:solidFill>
                <a:latin typeface="Calibri"/>
              </a:defRPr>
            </a:pPr>
            <a:r>
              <a:t>AIMON — AI Monitoring for Optimization and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AA"/>
                </a:solidFill>
                <a:latin typeface="Calibri"/>
              </a:defRPr>
            </a:pPr>
            <a:r>
              <a:t>Dept. Research Currency &amp; Security Printing — Perum Peruri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Estimasi Cost Saving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06 DAMPAK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5029200" cy="201168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559"/>
                </a:solidFill>
                <a:latin typeface="Calibri"/>
              </a:defRPr>
            </a:pPr>
            <a:r>
              <a:t>⏱ Penghematan Waktu Rekap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Sebelum: ~45 min/proyek × 9 proyek × 52 minggu = 351 jam/tahun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Sesudah: ~5 min/proyek × 9 proyek × 52 minggu = 39 jam/tahun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Penghematan: 312 jam/tahun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D946C7"/>
                </a:solidFill>
                <a:latin typeface="Calibri"/>
              </a:defRPr>
            </a:pPr>
            <a:r>
              <a:t>Konversi: 312 jam × Rp50.000 = Rp15.600.000/tahun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303520" cy="2011680"/>
          </a:xfrm>
          <a:prstGeom prst="roundRect">
            <a:avLst/>
          </a:prstGeom>
          <a:solidFill>
            <a:srgbClr val="EB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34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559"/>
                </a:solidFill>
                <a:latin typeface="Calibri"/>
              </a:defRPr>
            </a:pPr>
            <a:r>
              <a:t>⚡ Penghematan Waktu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Sebelum: ~2 hari/approval × 5/bulan × 12 bulan = 120 hari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Sesudah: ~30 menit/approval = 2,5 hari/tahun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Penghematan: ~117,5 hari kerja/tahun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10881360" cy="1097280"/>
          </a:xfrm>
          <a:prstGeom prst="round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Biaya Pengembangan AIMON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D0"/>
                </a:solidFill>
                <a:latin typeface="Calibri"/>
              </a:defRPr>
            </a:pPr>
            <a:r>
              <a:t>Software: Rp0 (open source) | Hosting: Rp0 (Supabase free) | Tunnel: Rp0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204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946C7"/>
                </a:solidFill>
                <a:latin typeface="Calibri"/>
              </a:defRPr>
            </a:pPr>
            <a:r>
              <a:t>Payback Period:</a:t>
            </a:r>
            <a:br/>
            <a:r>
              <a:t>&lt; 1 bulan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Dampak Non-Finansial &amp; Potensi Replikasi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06 DAMPAK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9728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Aspek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Dampak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Kecepatan deteksi deviasi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Dari 1–2 minggu → Real-time (0 hari) via RAG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Kualitas keputusan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Manajemen berbasis data terkini, bukan data kedaluwarsa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Transparansi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Semua stakeholder bisa lihat progress kapan saja dari mana saja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Audit trail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Setiap perubahan terekam: siapa, kapan, nilai lama → baru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Kepuasan pengguna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UI modern (dark mode, animasi, responsive)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Standardisasi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Format pelaporan seragam untuk seluruh departemen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Keterkaitan strategis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Sejalan dengan digitalisasi BUMN &amp; Industry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Potensi replikasi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Bisa direplikasi ke seluruh departemen Peruri (~1–2 minggu per dept)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0" cy="109728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D0"/>
                </a:solidFill>
                <a:latin typeface="Calibri"/>
              </a:defRPr>
            </a:pPr>
            <a:r>
              <a:t>SOP, transfer knowledge, dan mekanisme keberlanjutan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943600"/>
            <a:ext cx="10058400" cy="12700"/>
          </a:xfrm>
          <a:prstGeom prst="rect">
            <a:avLst/>
          </a:prstGeom>
          <a:solidFill>
            <a:srgbClr val="3D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AA"/>
                </a:solidFill>
                <a:latin typeface="Calibri"/>
              </a:defRPr>
            </a:pPr>
            <a:r>
              <a:t>AIMON — AI Monitoring for Optimization and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AA"/>
                </a:solidFill>
                <a:latin typeface="Calibri"/>
              </a:defRPr>
            </a:pPr>
            <a:r>
              <a:t>Dept. Research Currency &amp; Security Printing — Perum Peruri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SOP yang Perlu Dibuat &amp; Rencana Transfer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07 SUSTAINABILITY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97280"/>
          <a:ext cx="10972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00400"/>
                <a:gridCol w="73152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Dokumen SOP/IK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Isi Pokok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SOP Pengoperasian AIMON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Login, navigasi dashboard, interpretasi Kurva-S &amp;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IK Input Progress Proyek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Update aktivitas, upload dokumen, submit for approval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IK Review &amp;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Membuka Approval Queue, periksa dokumen, approve/reject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SOP Pembuatan Proyek Baru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Form, tahapan &amp; bobot, save draft vs submit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SOP Pemeliharaan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Menyalakan server, backup database, troubleshooting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840480"/>
          <a:ext cx="10058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27432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Pelatihan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Metode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Durasi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Researcher /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Input progress, upload,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Hands-on workshop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 jam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Kepala Seksi / Unit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Dashboard, Kurva-S, approval, RAG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Live demo + Q&amp;A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1,5 jam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Kepala Departemen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Overview, interpretasi data agregat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Presentasi + simulasi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 jam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Admin IT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Server maintenance, backup, troubleshoot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Technical walkthrough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 jam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0" cy="109728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LESSON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D0"/>
                </a:solidFill>
                <a:latin typeface="Calibri"/>
              </a:defRPr>
            </a:pPr>
            <a:r>
              <a:t>Tantangan, mitigasi, pembelajaran, dan rekomendasi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943600"/>
            <a:ext cx="10058400" cy="12700"/>
          </a:xfrm>
          <a:prstGeom prst="rect">
            <a:avLst/>
          </a:prstGeom>
          <a:solidFill>
            <a:srgbClr val="3D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AA"/>
                </a:solidFill>
                <a:latin typeface="Calibri"/>
              </a:defRPr>
            </a:pPr>
            <a:r>
              <a:t>AIMON — AI Monitoring for Optimization and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AA"/>
                </a:solidFill>
                <a:latin typeface="Calibri"/>
              </a:defRPr>
            </a:pPr>
            <a:r>
              <a:t>Dept. Research Currency &amp; Security Printing — Perum Peruri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Tantangan &amp; Mitigasi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08 LESSON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005840"/>
          <a:ext cx="106984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114800"/>
                <a:gridCol w="1097280"/>
                <a:gridCol w="50292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Tantangan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Jenis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Mitigasi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Migrasi localStorage → database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Teknis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Refactoring bertahap: backend → frontend →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Socket.io chat tidak sinkron pengirim vs penerima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Teknis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Optimistic UI + clientId reconciliation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Dashboard tidak bisa diakses luar jaringan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Teknis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Cloudflare Tunnel — gratis, aman, tanpa konfigurasi router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Waktu pengembangan sangat terbatas (&lt; 2 minggu)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Non-teknis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AI-Assisted Development — AI bantu coding real-time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Kebutuhan berkembang di tengah jalan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Non-teknis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Arsitektur modular — tambah fitur tanpa merusak existing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File upload tidak berfungsi di production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Teknis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Konfigurasi path static serving &amp; Multer storage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559"/>
                </a:solidFill>
                <a:latin typeface="Calibri"/>
              </a:defRPr>
            </a:pPr>
            <a:r>
              <a:t>Pembelajaran &amp; Rekomendasi Lanjutan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946C7"/>
                </a:solidFill>
                <a:latin typeface="Calibri"/>
              </a:defRPr>
            </a:pPr>
            <a:r>
              <a:t>08 LESSON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AIMON — IAKA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559"/>
                </a:solidFill>
                <a:latin typeface="Calibri"/>
              </a:defRPr>
            </a:pPr>
            <a:r>
              <a:t>💡 Pembelajaran yang Didapat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AI bukan pengganti, tapi AKSELERATOR — sistem 2-3 bulan bisa dibangun dalam hitungan minggu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Start simple, iterate fast — mulai dari mockup → full-stack secara iteratif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Real-time matters — WebSocket jauh lebih baik dari polling tradisional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Design System saves time — investasi di awal menghemat waktu saat scale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Cloud-first architecture — hindari masalah sinkronisasi dari awal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559"/>
                </a:solidFill>
                <a:latin typeface="Calibri"/>
              </a:defRPr>
            </a:pPr>
            <a:r>
              <a:t>🚀 Rekomendasi Pengembangan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463040"/>
          <a:ext cx="53035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27432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Prioritas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Fitur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Deskripsi</a:t>
                      </a:r>
                    </a:p>
                  </a:txBody>
                  <a:tcPr>
                    <a:solidFill>
                      <a:srgbClr val="1B255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🔴 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AI Predictive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Prediksi keterlambatan dari data historis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🔴 Tinggi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Reports &amp; Export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Generate PDF/Excel otomatis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🟡 Sedang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Email Notification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Notif email untuk approval mendesak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🟡 Sedang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Dashboard Analytics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Tren performa, perbandingan antar seksi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🟢 Rendah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Mobile App (PWA)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Progressive Web App untuk akses 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🟢 Rendah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Integration API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Integrasi dengan HR/ERP Peruri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4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46C7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AIMON berhasil membuktikan bahwa kombinasi kreativitas kaizen</a:t>
            </a:r>
            <a:br/>
            <a:r>
              <a:t>dan teknologi AI dapat mengakselerasi transformasi digital di lingkungan BUMN.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D0"/>
                </a:solidFill>
                <a:latin typeface="Calibri"/>
              </a:defRPr>
            </a:pPr>
            <a:r>
              <a:t>Dibangun dengan biaya Rp0 • Teknologi open-source • Semangat continuous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029200"/>
            <a:ext cx="2286000" cy="25400"/>
          </a:xfrm>
          <a:prstGeom prst="rect">
            <a:avLst/>
          </a:prstGeom>
          <a:solidFill>
            <a:srgbClr val="4D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89BB"/>
                </a:solidFill>
                <a:latin typeface="Calibri"/>
              </a:defRPr>
            </a:pPr>
            <a:r>
              <a:t>Departemen Research Currency &amp; Security Printing • Perum Peruri • IAKA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